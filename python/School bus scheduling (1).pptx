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1" r:id="rId1"/>
  </p:sldMasterIdLst>
  <p:notesMasterIdLst>
    <p:notesMasterId r:id="rId28"/>
  </p:notesMasterIdLst>
  <p:sldIdLst>
    <p:sldId id="256" r:id="rId2"/>
    <p:sldId id="295" r:id="rId3"/>
    <p:sldId id="257" r:id="rId4"/>
    <p:sldId id="258" r:id="rId5"/>
    <p:sldId id="259" r:id="rId6"/>
    <p:sldId id="261" r:id="rId7"/>
    <p:sldId id="260" r:id="rId8"/>
    <p:sldId id="262" r:id="rId9"/>
    <p:sldId id="273" r:id="rId10"/>
    <p:sldId id="293" r:id="rId11"/>
    <p:sldId id="297" r:id="rId12"/>
    <p:sldId id="296" r:id="rId13"/>
    <p:sldId id="275" r:id="rId14"/>
    <p:sldId id="283" r:id="rId15"/>
    <p:sldId id="276" r:id="rId16"/>
    <p:sldId id="280" r:id="rId17"/>
    <p:sldId id="290" r:id="rId18"/>
    <p:sldId id="281" r:id="rId19"/>
    <p:sldId id="291" r:id="rId20"/>
    <p:sldId id="282" r:id="rId21"/>
    <p:sldId id="292" r:id="rId22"/>
    <p:sldId id="289" r:id="rId23"/>
    <p:sldId id="274" r:id="rId24"/>
    <p:sldId id="284" r:id="rId25"/>
    <p:sldId id="271" r:id="rId26"/>
    <p:sldId id="28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8E0FACC-53C0-4AA0-8609-E392B9F3D857}">
          <p14:sldIdLst>
            <p14:sldId id="256"/>
            <p14:sldId id="295"/>
            <p14:sldId id="257"/>
            <p14:sldId id="258"/>
            <p14:sldId id="259"/>
            <p14:sldId id="261"/>
            <p14:sldId id="260"/>
            <p14:sldId id="262"/>
            <p14:sldId id="273"/>
            <p14:sldId id="293"/>
            <p14:sldId id="297"/>
            <p14:sldId id="296"/>
            <p14:sldId id="275"/>
            <p14:sldId id="283"/>
            <p14:sldId id="276"/>
            <p14:sldId id="280"/>
            <p14:sldId id="290"/>
            <p14:sldId id="281"/>
            <p14:sldId id="291"/>
            <p14:sldId id="282"/>
            <p14:sldId id="292"/>
            <p14:sldId id="289"/>
            <p14:sldId id="274"/>
            <p14:sldId id="284"/>
            <p14:sldId id="271"/>
            <p14:sldId id="285"/>
          </p14:sldIdLst>
        </p14:section>
        <p14:section name="Untitled Section" id="{ED512380-12C6-4F59-97B5-EBFEC4FE696B}">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163" autoAdjust="0"/>
  </p:normalViewPr>
  <p:slideViewPr>
    <p:cSldViewPr snapToGrid="0">
      <p:cViewPr varScale="1">
        <p:scale>
          <a:sx n="63" d="100"/>
          <a:sy n="63" d="100"/>
        </p:scale>
        <p:origin x="60"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A753CA-1A29-48E2-98FE-4F8E64C6E477}" type="datetimeFigureOut">
              <a:rPr lang="zh-CN" altLang="en-US" smtClean="0"/>
              <a:t>2016/11/11</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A5FE43-B6D5-4202-AB18-BCDA33431862}" type="slidenum">
              <a:rPr lang="zh-CN" altLang="en-US" smtClean="0"/>
              <a:t>‹#›</a:t>
            </a:fld>
            <a:endParaRPr lang="zh-CN" altLang="en-US"/>
          </a:p>
        </p:txBody>
      </p:sp>
    </p:spTree>
    <p:extLst>
      <p:ext uri="{BB962C8B-B14F-4D97-AF65-F5344CB8AC3E}">
        <p14:creationId xmlns:p14="http://schemas.microsoft.com/office/powerpoint/2010/main" val="3227507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We</a:t>
            </a:r>
            <a:r>
              <a:rPr lang="en-US" altLang="zh-CN" baseline="0" dirty="0"/>
              <a:t> are using this problem for morning problem schedule, we can do the afternoon problem if we modify it. For the whole day, we need to maximum the routes of morning and afternoon.</a:t>
            </a:r>
            <a:endParaRPr lang="zh-CN" altLang="en-US" dirty="0"/>
          </a:p>
        </p:txBody>
      </p:sp>
      <p:sp>
        <p:nvSpPr>
          <p:cNvPr id="4" name="Slide Number Placeholder 3"/>
          <p:cNvSpPr>
            <a:spLocks noGrp="1"/>
          </p:cNvSpPr>
          <p:nvPr>
            <p:ph type="sldNum" sz="quarter" idx="10"/>
          </p:nvPr>
        </p:nvSpPr>
        <p:spPr/>
        <p:txBody>
          <a:bodyPr/>
          <a:lstStyle/>
          <a:p>
            <a:fld id="{F5A5FE43-B6D5-4202-AB18-BCDA33431862}" type="slidenum">
              <a:rPr lang="zh-CN" altLang="en-US" smtClean="0"/>
              <a:t>3</a:t>
            </a:fld>
            <a:endParaRPr lang="zh-CN" altLang="en-US"/>
          </a:p>
        </p:txBody>
      </p:sp>
    </p:spTree>
    <p:extLst>
      <p:ext uri="{BB962C8B-B14F-4D97-AF65-F5344CB8AC3E}">
        <p14:creationId xmlns:p14="http://schemas.microsoft.com/office/powerpoint/2010/main" val="615276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A5FE43-B6D5-4202-AB18-BCDA33431862}" type="slidenum">
              <a:rPr lang="zh-CN" altLang="en-US" smtClean="0"/>
              <a:t>13</a:t>
            </a:fld>
            <a:endParaRPr lang="zh-CN" altLang="en-US"/>
          </a:p>
        </p:txBody>
      </p:sp>
    </p:spTree>
    <p:extLst>
      <p:ext uri="{BB962C8B-B14F-4D97-AF65-F5344CB8AC3E}">
        <p14:creationId xmlns:p14="http://schemas.microsoft.com/office/powerpoint/2010/main" val="1489609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1259C5-1ABF-4AD7-8F5F-A128F6AB1BF9}"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2607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1259C5-1ABF-4AD7-8F5F-A128F6AB1BF9}" type="slidenum">
              <a:rPr lang="zh-CN" altLang="en-US" smtClean="0"/>
              <a:t>‹#›</a:t>
            </a:fld>
            <a:endParaRPr lang="zh-CN" altLang="en-US"/>
          </a:p>
        </p:txBody>
      </p:sp>
    </p:spTree>
    <p:extLst>
      <p:ext uri="{BB962C8B-B14F-4D97-AF65-F5344CB8AC3E}">
        <p14:creationId xmlns:p14="http://schemas.microsoft.com/office/powerpoint/2010/main" val="1259790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Edit Master text styles</a:t>
            </a:r>
          </a:p>
        </p:txBody>
      </p:sp>
      <p:sp>
        <p:nvSpPr>
          <p:cNvPr id="4" name="Date Placeholder 3"/>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1259C5-1ABF-4AD7-8F5F-A128F6AB1BF9}"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2857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1259C5-1ABF-4AD7-8F5F-A128F6AB1BF9}" type="slidenum">
              <a:rPr lang="zh-CN" altLang="en-US" smtClean="0"/>
              <a:t>‹#›</a:t>
            </a:fld>
            <a:endParaRPr lang="zh-CN" altLang="en-US"/>
          </a:p>
        </p:txBody>
      </p:sp>
    </p:spTree>
    <p:extLst>
      <p:ext uri="{BB962C8B-B14F-4D97-AF65-F5344CB8AC3E}">
        <p14:creationId xmlns:p14="http://schemas.microsoft.com/office/powerpoint/2010/main" val="3459255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51259C5-1ABF-4AD7-8F5F-A128F6AB1BF9}" type="slidenum">
              <a:rPr lang="zh-CN" altLang="en-US" smtClean="0"/>
              <a:t>‹#›</a:t>
            </a:fld>
            <a:endParaRPr lang="zh-CN" altLang="en-US"/>
          </a:p>
        </p:txBody>
      </p:sp>
    </p:spTree>
    <p:extLst>
      <p:ext uri="{BB962C8B-B14F-4D97-AF65-F5344CB8AC3E}">
        <p14:creationId xmlns:p14="http://schemas.microsoft.com/office/powerpoint/2010/main" val="3432098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51259C5-1ABF-4AD7-8F5F-A128F6AB1BF9}" type="slidenum">
              <a:rPr lang="zh-CN" altLang="en-US" smtClean="0"/>
              <a:t>‹#›</a:t>
            </a:fld>
            <a:endParaRPr lang="zh-CN" altLang="en-US"/>
          </a:p>
        </p:txBody>
      </p:sp>
    </p:spTree>
    <p:extLst>
      <p:ext uri="{BB962C8B-B14F-4D97-AF65-F5344CB8AC3E}">
        <p14:creationId xmlns:p14="http://schemas.microsoft.com/office/powerpoint/2010/main" val="2513542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A51259C5-1ABF-4AD7-8F5F-A128F6AB1BF9}" type="slidenum">
              <a:rPr lang="zh-CN" altLang="en-US" smtClean="0"/>
              <a:t>‹#›</a:t>
            </a:fld>
            <a:endParaRPr lang="zh-CN" altLang="en-US"/>
          </a:p>
        </p:txBody>
      </p:sp>
    </p:spTree>
    <p:extLst>
      <p:ext uri="{BB962C8B-B14F-4D97-AF65-F5344CB8AC3E}">
        <p14:creationId xmlns:p14="http://schemas.microsoft.com/office/powerpoint/2010/main" val="99209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CB7F66D-9233-4FF0-AE53-3CB2AA7C6AD2}" type="datetimeFigureOut">
              <a:rPr lang="zh-CN" altLang="en-US" smtClean="0"/>
              <a:t>2016/11/11</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51259C5-1ABF-4AD7-8F5F-A128F6AB1BF9}" type="slidenum">
              <a:rPr lang="zh-CN" altLang="en-US" smtClean="0"/>
              <a:t>‹#›</a:t>
            </a:fld>
            <a:endParaRPr lang="zh-CN" altLang="en-US"/>
          </a:p>
        </p:txBody>
      </p:sp>
    </p:spTree>
    <p:extLst>
      <p:ext uri="{BB962C8B-B14F-4D97-AF65-F5344CB8AC3E}">
        <p14:creationId xmlns:p14="http://schemas.microsoft.com/office/powerpoint/2010/main" val="3563174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Edit Master text styles</a:t>
            </a:r>
          </a:p>
        </p:txBody>
      </p:sp>
      <p:sp>
        <p:nvSpPr>
          <p:cNvPr id="5" name="Date Placeholder 4"/>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51259C5-1ABF-4AD7-8F5F-A128F6AB1BF9}" type="slidenum">
              <a:rPr lang="zh-CN" altLang="en-US" smtClean="0"/>
              <a:t>‹#›</a:t>
            </a:fld>
            <a:endParaRPr lang="zh-CN" altLang="en-US"/>
          </a:p>
        </p:txBody>
      </p:sp>
    </p:spTree>
    <p:extLst>
      <p:ext uri="{BB962C8B-B14F-4D97-AF65-F5344CB8AC3E}">
        <p14:creationId xmlns:p14="http://schemas.microsoft.com/office/powerpoint/2010/main" val="3139926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1259C5-1ABF-4AD7-8F5F-A128F6AB1BF9}" type="slidenum">
              <a:rPr lang="zh-CN" altLang="en-US" smtClean="0"/>
              <a:t>‹#›</a:t>
            </a:fld>
            <a:endParaRPr lang="zh-CN" altLang="en-US"/>
          </a:p>
        </p:txBody>
      </p:sp>
    </p:spTree>
    <p:extLst>
      <p:ext uri="{BB962C8B-B14F-4D97-AF65-F5344CB8AC3E}">
        <p14:creationId xmlns:p14="http://schemas.microsoft.com/office/powerpoint/2010/main" val="2016920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B7F66D-9233-4FF0-AE53-3CB2AA7C6AD2}" type="datetimeFigureOut">
              <a:rPr lang="zh-CN" altLang="en-US" smtClean="0"/>
              <a:t>2016/11/11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51259C5-1ABF-4AD7-8F5F-A128F6AB1BF9}" type="slidenum">
              <a:rPr lang="zh-CN" altLang="en-US" smtClean="0"/>
              <a:t>‹#›</a:t>
            </a:fld>
            <a:endParaRPr lang="zh-CN" altLang="en-US"/>
          </a:p>
        </p:txBody>
      </p:sp>
    </p:spTree>
    <p:extLst>
      <p:ext uri="{BB962C8B-B14F-4D97-AF65-F5344CB8AC3E}">
        <p14:creationId xmlns:p14="http://schemas.microsoft.com/office/powerpoint/2010/main" val="4151770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CB7F66D-9233-4FF0-AE53-3CB2AA7C6AD2}" type="datetimeFigureOut">
              <a:rPr lang="zh-CN" altLang="en-US" smtClean="0"/>
              <a:t>2016/11/11</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51259C5-1ABF-4AD7-8F5F-A128F6AB1BF9}"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570783"/>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5129" y="188677"/>
            <a:ext cx="12264889" cy="3566160"/>
          </a:xfrm>
        </p:spPr>
        <p:txBody>
          <a:bodyPr>
            <a:normAutofit/>
          </a:bodyPr>
          <a:lstStyle/>
          <a:p>
            <a:r>
              <a:rPr lang="en-US" altLang="zh-CN" sz="5400" dirty="0"/>
              <a:t>Optimal and Heuristic Methods for the </a:t>
            </a:r>
            <a:br>
              <a:rPr lang="en-US" altLang="zh-CN" sz="5400" dirty="0"/>
            </a:br>
            <a:r>
              <a:rPr lang="en-US" altLang="zh-CN" sz="5400" dirty="0"/>
              <a:t>       School Bus Fleet Size Problem</a:t>
            </a:r>
            <a:endParaRPr lang="zh-CN" altLang="en-US" sz="5400" dirty="0"/>
          </a:p>
        </p:txBody>
      </p:sp>
      <p:pic>
        <p:nvPicPr>
          <p:cNvPr id="5" name="Picture 4"/>
          <p:cNvPicPr>
            <a:picLocks noChangeAspect="1"/>
          </p:cNvPicPr>
          <p:nvPr/>
        </p:nvPicPr>
        <p:blipFill>
          <a:blip r:embed="rId2"/>
          <a:stretch>
            <a:fillRect/>
          </a:stretch>
        </p:blipFill>
        <p:spPr>
          <a:xfrm>
            <a:off x="7432537" y="109164"/>
            <a:ext cx="4610372" cy="775419"/>
          </a:xfrm>
          <a:prstGeom prst="rect">
            <a:avLst/>
          </a:prstGeom>
        </p:spPr>
      </p:pic>
      <p:sp>
        <p:nvSpPr>
          <p:cNvPr id="7" name="Rectangle 6"/>
          <p:cNvSpPr/>
          <p:nvPr/>
        </p:nvSpPr>
        <p:spPr>
          <a:xfrm>
            <a:off x="3588025" y="4711148"/>
            <a:ext cx="4601818" cy="152068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dirty="0"/>
              <a:t>Herbert F. Lewis, PhD</a:t>
            </a:r>
          </a:p>
          <a:p>
            <a:pPr algn="ctr"/>
            <a:r>
              <a:rPr lang="en-US" altLang="zh-CN" sz="2200" dirty="0"/>
              <a:t>Thomas R. Sexton, PhD</a:t>
            </a:r>
          </a:p>
          <a:p>
            <a:pPr algn="ctr"/>
            <a:r>
              <a:rPr lang="en-US" altLang="zh-CN" sz="2200" dirty="0"/>
              <a:t>Sreekanth Mallikarjun, PhD</a:t>
            </a:r>
          </a:p>
          <a:p>
            <a:pPr algn="ctr"/>
            <a:r>
              <a:rPr lang="en-US" altLang="zh-CN" sz="2200" dirty="0" err="1"/>
              <a:t>Jiayuan</a:t>
            </a:r>
            <a:r>
              <a:rPr lang="en-US" altLang="zh-CN" sz="2200" dirty="0"/>
              <a:t> Zhang</a:t>
            </a:r>
          </a:p>
          <a:p>
            <a:pPr algn="ctr"/>
            <a:endParaRPr lang="en-US" altLang="zh-CN" sz="2200" dirty="0"/>
          </a:p>
          <a:p>
            <a:pPr algn="ctr"/>
            <a:endParaRPr lang="zh-CN" altLang="en-US" dirty="0"/>
          </a:p>
        </p:txBody>
      </p:sp>
    </p:spTree>
    <p:extLst>
      <p:ext uri="{BB962C8B-B14F-4D97-AF65-F5344CB8AC3E}">
        <p14:creationId xmlns:p14="http://schemas.microsoft.com/office/powerpoint/2010/main" val="1426566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dirty="0"/>
              <a:t>Literature  Review</a:t>
            </a:r>
            <a:endParaRPr lang="zh-CN" alt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99210541"/>
              </p:ext>
            </p:extLst>
          </p:nvPr>
        </p:nvGraphicFramePr>
        <p:xfrm>
          <a:off x="1530625" y="1888435"/>
          <a:ext cx="9044611" cy="4248115"/>
        </p:xfrm>
        <a:graphic>
          <a:graphicData uri="http://schemas.openxmlformats.org/drawingml/2006/table">
            <a:tbl>
              <a:tblPr firstRow="1" bandRow="1">
                <a:tableStyleId>{5C22544A-7EE6-4342-B048-85BDC9FD1C3A}</a:tableStyleId>
              </a:tblPr>
              <a:tblGrid>
                <a:gridCol w="2613891">
                  <a:extLst>
                    <a:ext uri="{9D8B030D-6E8A-4147-A177-3AD203B41FA5}">
                      <a16:colId xmlns:a16="http://schemas.microsoft.com/office/drawing/2014/main" val="1694741545"/>
                    </a:ext>
                  </a:extLst>
                </a:gridCol>
                <a:gridCol w="2613891">
                  <a:extLst>
                    <a:ext uri="{9D8B030D-6E8A-4147-A177-3AD203B41FA5}">
                      <a16:colId xmlns:a16="http://schemas.microsoft.com/office/drawing/2014/main" val="1898074231"/>
                    </a:ext>
                  </a:extLst>
                </a:gridCol>
                <a:gridCol w="3084192">
                  <a:extLst>
                    <a:ext uri="{9D8B030D-6E8A-4147-A177-3AD203B41FA5}">
                      <a16:colId xmlns:a16="http://schemas.microsoft.com/office/drawing/2014/main" val="876847258"/>
                    </a:ext>
                  </a:extLst>
                </a:gridCol>
                <a:gridCol w="732637">
                  <a:extLst>
                    <a:ext uri="{9D8B030D-6E8A-4147-A177-3AD203B41FA5}">
                      <a16:colId xmlns:a16="http://schemas.microsoft.com/office/drawing/2014/main" val="4114033805"/>
                    </a:ext>
                  </a:extLst>
                </a:gridCol>
              </a:tblGrid>
              <a:tr h="534724">
                <a:tc>
                  <a:txBody>
                    <a:bodyPr/>
                    <a:lstStyle/>
                    <a:p>
                      <a:r>
                        <a:rPr lang="en-US" altLang="zh-CN" dirty="0"/>
                        <a:t>Author</a:t>
                      </a:r>
                      <a:endParaRPr lang="zh-CN" altLang="en-US" dirty="0"/>
                    </a:p>
                  </a:txBody>
                  <a:tcPr/>
                </a:tc>
                <a:tc>
                  <a:txBody>
                    <a:bodyPr/>
                    <a:lstStyle/>
                    <a:p>
                      <a:r>
                        <a:rPr lang="en-US" altLang="zh-CN" dirty="0"/>
                        <a:t>Paper</a:t>
                      </a:r>
                      <a:endParaRPr lang="zh-CN" altLang="en-US" dirty="0"/>
                    </a:p>
                  </a:txBody>
                  <a:tcPr/>
                </a:tc>
                <a:tc>
                  <a:txBody>
                    <a:bodyPr/>
                    <a:lstStyle/>
                    <a:p>
                      <a:r>
                        <a:rPr lang="en-US" altLang="zh-CN" dirty="0"/>
                        <a:t>Method</a:t>
                      </a:r>
                      <a:endParaRPr lang="zh-CN" altLang="en-US" dirty="0"/>
                    </a:p>
                  </a:txBody>
                  <a:tcPr/>
                </a:tc>
                <a:tc>
                  <a:txBody>
                    <a:bodyPr/>
                    <a:lstStyle/>
                    <a:p>
                      <a:r>
                        <a:rPr lang="en-US" altLang="zh-CN" dirty="0"/>
                        <a:t>Year</a:t>
                      </a:r>
                      <a:endParaRPr lang="zh-CN" altLang="en-US" dirty="0"/>
                    </a:p>
                  </a:txBody>
                  <a:tcPr/>
                </a:tc>
                <a:extLst>
                  <a:ext uri="{0D108BD9-81ED-4DB2-BD59-A6C34878D82A}">
                    <a16:rowId xmlns:a16="http://schemas.microsoft.com/office/drawing/2014/main" val="2159371870"/>
                  </a:ext>
                </a:extLst>
              </a:tr>
              <a:tr h="1335257">
                <a:tc>
                  <a:txBody>
                    <a:bodyPr/>
                    <a:lstStyle/>
                    <a:p>
                      <a:pPr algn="l"/>
                      <a:r>
                        <a:rPr lang="en-US" altLang="zh-CN" dirty="0" err="1"/>
                        <a:t>Xiao</a:t>
                      </a:r>
                      <a:r>
                        <a:rPr lang="en-US" altLang="zh-CN" baseline="0" dirty="0" err="1"/>
                        <a:t>pan</a:t>
                      </a:r>
                      <a:r>
                        <a:rPr lang="en-US" altLang="zh-CN" baseline="0" dirty="0"/>
                        <a:t> Chen, </a:t>
                      </a:r>
                      <a:r>
                        <a:rPr lang="en-US" altLang="zh-CN" baseline="0" dirty="0" err="1"/>
                        <a:t>Yunfeng</a:t>
                      </a:r>
                      <a:r>
                        <a:rPr lang="en-US" altLang="zh-CN" baseline="0" dirty="0"/>
                        <a:t> Kong, </a:t>
                      </a:r>
                      <a:r>
                        <a:rPr lang="en-US" altLang="zh-CN" baseline="0" dirty="0" err="1"/>
                        <a:t>Lanxue</a:t>
                      </a:r>
                      <a:r>
                        <a:rPr lang="en-US" altLang="zh-CN" baseline="0" dirty="0"/>
                        <a:t> Dang, </a:t>
                      </a:r>
                      <a:r>
                        <a:rPr lang="en-US" altLang="zh-CN" baseline="0" dirty="0" err="1"/>
                        <a:t>Yane</a:t>
                      </a:r>
                      <a:r>
                        <a:rPr lang="en-US" altLang="zh-CN" baseline="0" dirty="0"/>
                        <a:t> </a:t>
                      </a:r>
                      <a:r>
                        <a:rPr lang="en-US" altLang="zh-CN" baseline="0" dirty="0" err="1"/>
                        <a:t>Hou</a:t>
                      </a:r>
                      <a:r>
                        <a:rPr lang="en-US" altLang="zh-CN" baseline="0" dirty="0"/>
                        <a:t>, </a:t>
                      </a:r>
                      <a:r>
                        <a:rPr lang="en-US" altLang="zh-CN" baseline="0" dirty="0" err="1"/>
                        <a:t>Xinyue</a:t>
                      </a:r>
                      <a:r>
                        <a:rPr lang="en-US" altLang="zh-CN" baseline="0" dirty="0"/>
                        <a:t> Ye</a:t>
                      </a:r>
                      <a:endParaRPr lang="zh-CN" altLang="en-US" dirty="0"/>
                    </a:p>
                  </a:txBody>
                  <a:tcPr/>
                </a:tc>
                <a:tc>
                  <a:txBody>
                    <a:bodyPr/>
                    <a:lstStyle/>
                    <a:p>
                      <a:pPr algn="l"/>
                      <a:r>
                        <a:rPr lang="en-US" altLang="zh-CN" dirty="0"/>
                        <a:t>Exact and Metaheuristic</a:t>
                      </a:r>
                      <a:r>
                        <a:rPr lang="en-US" altLang="zh-CN" baseline="0" dirty="0"/>
                        <a:t> Approaches for a Bi-Objective School Bus Scheduling Problem</a:t>
                      </a:r>
                      <a:endParaRPr lang="zh-CN" altLang="en-US" dirty="0"/>
                    </a:p>
                  </a:txBody>
                  <a:tcPr/>
                </a:tc>
                <a:tc>
                  <a:txBody>
                    <a:bodyPr/>
                    <a:lstStyle/>
                    <a:p>
                      <a:pPr algn="l"/>
                      <a:r>
                        <a:rPr lang="en-US" altLang="zh-CN" dirty="0"/>
                        <a:t>Search based algorithm</a:t>
                      </a:r>
                      <a:endParaRPr lang="zh-CN" altLang="en-US" dirty="0"/>
                    </a:p>
                  </a:txBody>
                  <a:tcPr/>
                </a:tc>
                <a:tc>
                  <a:txBody>
                    <a:bodyPr/>
                    <a:lstStyle/>
                    <a:p>
                      <a:pPr algn="l"/>
                      <a:r>
                        <a:rPr lang="en-US" altLang="zh-CN" dirty="0"/>
                        <a:t>2015</a:t>
                      </a:r>
                      <a:endParaRPr lang="zh-CN" altLang="en-US" dirty="0"/>
                    </a:p>
                  </a:txBody>
                  <a:tcPr/>
                </a:tc>
                <a:extLst>
                  <a:ext uri="{0D108BD9-81ED-4DB2-BD59-A6C34878D82A}">
                    <a16:rowId xmlns:a16="http://schemas.microsoft.com/office/drawing/2014/main" val="3858908481"/>
                  </a:ext>
                </a:extLst>
              </a:tr>
              <a:tr h="718985">
                <a:tc>
                  <a:txBody>
                    <a:bodyPr/>
                    <a:lstStyle/>
                    <a:p>
                      <a:pPr algn="l"/>
                      <a:r>
                        <a:rPr lang="en-US" altLang="zh-CN" dirty="0" err="1"/>
                        <a:t>Byung</a:t>
                      </a:r>
                      <a:r>
                        <a:rPr lang="en-US" altLang="zh-CN" dirty="0"/>
                        <a:t>-In Ki,</a:t>
                      </a:r>
                      <a:r>
                        <a:rPr lang="en-US" altLang="zh-CN" sz="1800" b="0" i="0" u="none" strike="noStrike" kern="1200" baseline="0" dirty="0">
                          <a:solidFill>
                            <a:schemeClr val="dk1"/>
                          </a:solidFill>
                          <a:latin typeface="+mn-lt"/>
                          <a:ea typeface="+mn-ea"/>
                          <a:cs typeface="+mn-cs"/>
                        </a:rPr>
                        <a:t> </a:t>
                      </a:r>
                      <a:r>
                        <a:rPr lang="en-US" altLang="zh-CN" sz="1800" b="0" i="0" u="none" strike="noStrike" kern="1200" baseline="0" dirty="0" err="1">
                          <a:solidFill>
                            <a:schemeClr val="dk1"/>
                          </a:solidFill>
                          <a:latin typeface="+mn-lt"/>
                          <a:ea typeface="+mn-ea"/>
                          <a:cs typeface="+mn-cs"/>
                        </a:rPr>
                        <a:t>Seongbae</a:t>
                      </a:r>
                      <a:r>
                        <a:rPr lang="en-US" altLang="zh-CN" sz="1800" b="0" i="0" u="none" strike="noStrike" kern="1200" baseline="0" dirty="0">
                          <a:solidFill>
                            <a:schemeClr val="dk1"/>
                          </a:solidFill>
                          <a:latin typeface="+mn-lt"/>
                          <a:ea typeface="+mn-ea"/>
                          <a:cs typeface="+mn-cs"/>
                        </a:rPr>
                        <a:t> Kim, </a:t>
                      </a:r>
                      <a:r>
                        <a:rPr lang="en-US" altLang="zh-CN" sz="1800" b="0" i="0" u="none" strike="noStrike" kern="1200" baseline="0" dirty="0" err="1">
                          <a:solidFill>
                            <a:schemeClr val="dk1"/>
                          </a:solidFill>
                          <a:latin typeface="+mn-lt"/>
                          <a:ea typeface="+mn-ea"/>
                          <a:cs typeface="+mn-cs"/>
                        </a:rPr>
                        <a:t>Junhyuk</a:t>
                      </a:r>
                      <a:r>
                        <a:rPr lang="en-US" altLang="zh-CN" sz="1800" b="0" i="0" u="none" strike="noStrike" kern="1200" baseline="0" dirty="0">
                          <a:solidFill>
                            <a:schemeClr val="dk1"/>
                          </a:solidFill>
                          <a:latin typeface="+mn-lt"/>
                          <a:ea typeface="+mn-ea"/>
                          <a:cs typeface="+mn-cs"/>
                        </a:rPr>
                        <a:t> Park</a:t>
                      </a:r>
                      <a:endParaRPr lang="zh-CN" altLang="en-US" dirty="0"/>
                    </a:p>
                  </a:txBody>
                  <a:tcPr/>
                </a:tc>
                <a:tc>
                  <a:txBody>
                    <a:bodyPr/>
                    <a:lstStyle/>
                    <a:p>
                      <a:pPr algn="l"/>
                      <a:r>
                        <a:rPr lang="en-US" altLang="zh-CN" dirty="0"/>
                        <a:t>A School</a:t>
                      </a:r>
                      <a:r>
                        <a:rPr lang="en-US" altLang="zh-CN" baseline="0" dirty="0"/>
                        <a:t> Bus Scheduling Problem</a:t>
                      </a:r>
                      <a:endParaRPr lang="zh-CN" altLang="en-US" dirty="0"/>
                    </a:p>
                  </a:txBody>
                  <a:tcPr/>
                </a:tc>
                <a:tc>
                  <a:txBody>
                    <a:bodyPr/>
                    <a:lstStyle/>
                    <a:p>
                      <a:pPr algn="l"/>
                      <a:r>
                        <a:rPr lang="en-US" altLang="zh-CN" sz="1800" b="0" i="0" kern="1200" dirty="0">
                          <a:solidFill>
                            <a:schemeClr val="dk1"/>
                          </a:solidFill>
                          <a:effectLst/>
                          <a:latin typeface="+mn-lt"/>
                          <a:ea typeface="+mn-ea"/>
                          <a:cs typeface="+mn-cs"/>
                        </a:rPr>
                        <a:t>Branch-and-bound methods and construction algorithm</a:t>
                      </a:r>
                      <a:endParaRPr lang="zh-CN" altLang="en-US" dirty="0"/>
                    </a:p>
                  </a:txBody>
                  <a:tcPr/>
                </a:tc>
                <a:tc>
                  <a:txBody>
                    <a:bodyPr/>
                    <a:lstStyle/>
                    <a:p>
                      <a:pPr algn="l"/>
                      <a:r>
                        <a:rPr lang="en-US" altLang="zh-CN" dirty="0"/>
                        <a:t>2011</a:t>
                      </a:r>
                      <a:endParaRPr lang="zh-CN" altLang="en-US" dirty="0"/>
                    </a:p>
                  </a:txBody>
                  <a:tcPr/>
                </a:tc>
                <a:extLst>
                  <a:ext uri="{0D108BD9-81ED-4DB2-BD59-A6C34878D82A}">
                    <a16:rowId xmlns:a16="http://schemas.microsoft.com/office/drawing/2014/main" val="419277122"/>
                  </a:ext>
                </a:extLst>
              </a:tr>
              <a:tr h="940164">
                <a:tc>
                  <a:txBody>
                    <a:bodyPr/>
                    <a:lstStyle/>
                    <a:p>
                      <a:pPr algn="l"/>
                      <a:r>
                        <a:rPr lang="en-US" altLang="zh-CN" sz="1800" b="0" i="0" u="none" strike="noStrike" kern="1200" baseline="0" dirty="0">
                          <a:solidFill>
                            <a:schemeClr val="dk1"/>
                          </a:solidFill>
                          <a:latin typeface="+mn-lt"/>
                          <a:ea typeface="+mn-ea"/>
                          <a:cs typeface="+mn-cs"/>
                        </a:rPr>
                        <a:t>Armin </a:t>
                      </a:r>
                      <a:r>
                        <a:rPr lang="en-US" altLang="zh-CN" sz="1800" b="0" i="0" u="none" strike="noStrike" kern="1200" baseline="0" dirty="0" err="1">
                          <a:solidFill>
                            <a:schemeClr val="dk1"/>
                          </a:solidFill>
                          <a:latin typeface="+mn-lt"/>
                          <a:ea typeface="+mn-ea"/>
                          <a:cs typeface="+mn-cs"/>
                        </a:rPr>
                        <a:t>Fugenschuh</a:t>
                      </a:r>
                      <a:endParaRPr lang="zh-CN" altLang="en-US" dirty="0"/>
                    </a:p>
                  </a:txBody>
                  <a:tcPr/>
                </a:tc>
                <a:tc>
                  <a:txBody>
                    <a:bodyPr/>
                    <a:lstStyle/>
                    <a:p>
                      <a:pPr algn="l"/>
                      <a:r>
                        <a:rPr lang="en-US" altLang="zh-CN" dirty="0"/>
                        <a:t>Solving a School Bus Scheduling Problem with Integer</a:t>
                      </a:r>
                      <a:r>
                        <a:rPr lang="en-US" altLang="zh-CN" baseline="0" dirty="0"/>
                        <a:t> Programming</a:t>
                      </a:r>
                      <a:endParaRPr lang="zh-CN" altLang="en-US" dirty="0"/>
                    </a:p>
                  </a:txBody>
                  <a:tcPr/>
                </a:tc>
                <a:tc>
                  <a:txBody>
                    <a:bodyPr/>
                    <a:lstStyle/>
                    <a:p>
                      <a:pPr algn="l"/>
                      <a:r>
                        <a:rPr lang="en-US" altLang="zh-CN" dirty="0"/>
                        <a:t>Mixed integer</a:t>
                      </a:r>
                      <a:r>
                        <a:rPr lang="en-US" altLang="zh-CN" baseline="0" dirty="0"/>
                        <a:t> program and relaxation</a:t>
                      </a:r>
                      <a:endParaRPr lang="zh-CN" altLang="en-US" dirty="0"/>
                    </a:p>
                  </a:txBody>
                  <a:tcPr/>
                </a:tc>
                <a:tc>
                  <a:txBody>
                    <a:bodyPr/>
                    <a:lstStyle/>
                    <a:p>
                      <a:pPr algn="l"/>
                      <a:r>
                        <a:rPr lang="en-US" altLang="zh-CN" dirty="0"/>
                        <a:t>2009</a:t>
                      </a:r>
                      <a:endParaRPr lang="zh-CN" altLang="en-US" dirty="0"/>
                    </a:p>
                  </a:txBody>
                  <a:tcPr/>
                </a:tc>
                <a:extLst>
                  <a:ext uri="{0D108BD9-81ED-4DB2-BD59-A6C34878D82A}">
                    <a16:rowId xmlns:a16="http://schemas.microsoft.com/office/drawing/2014/main" val="3281949467"/>
                  </a:ext>
                </a:extLst>
              </a:tr>
              <a:tr h="718985">
                <a:tc>
                  <a:txBody>
                    <a:bodyPr/>
                    <a:lstStyle/>
                    <a:p>
                      <a:pPr algn="l"/>
                      <a:r>
                        <a:rPr lang="en-US" altLang="zh-CN" sz="1800" b="0" i="0" u="none" strike="noStrike" kern="1200" baseline="0" dirty="0">
                          <a:solidFill>
                            <a:schemeClr val="dk1"/>
                          </a:solidFill>
                          <a:latin typeface="+mn-lt"/>
                          <a:ea typeface="+mn-ea"/>
                          <a:cs typeface="+mn-cs"/>
                        </a:rPr>
                        <a:t>Arthur J. </a:t>
                      </a:r>
                      <a:r>
                        <a:rPr lang="en-US" altLang="zh-CN" sz="1800" b="0" i="0" u="none" strike="noStrike" kern="1200" baseline="0" dirty="0" err="1">
                          <a:solidFill>
                            <a:schemeClr val="dk1"/>
                          </a:solidFill>
                          <a:latin typeface="+mn-lt"/>
                          <a:ea typeface="+mn-ea"/>
                          <a:cs typeface="+mn-cs"/>
                        </a:rPr>
                        <a:t>Swersey</a:t>
                      </a:r>
                      <a:r>
                        <a:rPr lang="en-US" altLang="zh-CN" sz="1800" b="0" i="0" u="none" strike="noStrike" kern="1200" baseline="0" dirty="0">
                          <a:solidFill>
                            <a:schemeClr val="dk1"/>
                          </a:solidFill>
                          <a:latin typeface="+mn-lt"/>
                          <a:ea typeface="+mn-ea"/>
                          <a:cs typeface="+mn-cs"/>
                        </a:rPr>
                        <a:t> , Wilson Ballard </a:t>
                      </a:r>
                      <a:endParaRPr lang="zh-CN" altLang="en-US" dirty="0"/>
                    </a:p>
                  </a:txBody>
                  <a:tcPr/>
                </a:tc>
                <a:tc>
                  <a:txBody>
                    <a:bodyPr/>
                    <a:lstStyle/>
                    <a:p>
                      <a:pPr algn="l"/>
                      <a:r>
                        <a:rPr lang="en-US" altLang="zh-CN" dirty="0"/>
                        <a:t>Scheduling</a:t>
                      </a:r>
                      <a:r>
                        <a:rPr lang="en-US" altLang="zh-CN" baseline="0" dirty="0"/>
                        <a:t> School Buses</a:t>
                      </a:r>
                      <a:endParaRPr lang="zh-CN" altLang="en-US" dirty="0"/>
                    </a:p>
                  </a:txBody>
                  <a:tcPr/>
                </a:tc>
                <a:tc>
                  <a:txBody>
                    <a:bodyPr/>
                    <a:lstStyle/>
                    <a:p>
                      <a:pPr algn="l"/>
                      <a:r>
                        <a:rPr lang="en-US" altLang="zh-CN" dirty="0"/>
                        <a:t>Mixed</a:t>
                      </a:r>
                      <a:r>
                        <a:rPr lang="en-US" altLang="zh-CN" baseline="0" dirty="0"/>
                        <a:t> Integer program and relaxation</a:t>
                      </a:r>
                      <a:endParaRPr lang="zh-CN" altLang="en-US" dirty="0"/>
                    </a:p>
                  </a:txBody>
                  <a:tcPr/>
                </a:tc>
                <a:tc>
                  <a:txBody>
                    <a:bodyPr/>
                    <a:lstStyle/>
                    <a:p>
                      <a:pPr algn="l"/>
                      <a:r>
                        <a:rPr lang="en-US" altLang="zh-CN" dirty="0"/>
                        <a:t>1984</a:t>
                      </a:r>
                      <a:endParaRPr lang="zh-CN" altLang="en-US" dirty="0"/>
                    </a:p>
                  </a:txBody>
                  <a:tcPr/>
                </a:tc>
                <a:extLst>
                  <a:ext uri="{0D108BD9-81ED-4DB2-BD59-A6C34878D82A}">
                    <a16:rowId xmlns:a16="http://schemas.microsoft.com/office/drawing/2014/main" val="3306943011"/>
                  </a:ext>
                </a:extLst>
              </a:tr>
            </a:tbl>
          </a:graphicData>
        </a:graphic>
      </p:graphicFrame>
    </p:spTree>
    <p:extLst>
      <p:ext uri="{BB962C8B-B14F-4D97-AF65-F5344CB8AC3E}">
        <p14:creationId xmlns:p14="http://schemas.microsoft.com/office/powerpoint/2010/main" val="2517934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zh-CN" sz="5000" dirty="0"/>
              <a:t>Abstract</a:t>
            </a:r>
            <a:endParaRPr lang="zh-CN" altLang="en-US" sz="5000" dirty="0"/>
          </a:p>
        </p:txBody>
      </p:sp>
      <p:sp>
        <p:nvSpPr>
          <p:cNvPr id="3" name="Content Placeholder 2"/>
          <p:cNvSpPr>
            <a:spLocks noGrp="1"/>
          </p:cNvSpPr>
          <p:nvPr>
            <p:ph idx="1"/>
          </p:nvPr>
        </p:nvSpPr>
        <p:spPr>
          <a:xfrm>
            <a:off x="1097280" y="1451113"/>
            <a:ext cx="10058400" cy="4417981"/>
          </a:xfrm>
        </p:spPr>
        <p:txBody>
          <a:bodyPr>
            <a:normAutofit/>
          </a:bodyPr>
          <a:lstStyle/>
          <a:p>
            <a:endParaRPr lang="zh-CN" altLang="en-US" dirty="0"/>
          </a:p>
          <a:p>
            <a:r>
              <a:rPr lang="en-US" altLang="zh-CN" sz="3500" dirty="0"/>
              <a:t>We present optimal and heuristic algorithms to minimize the number of school buses required to transport students subject to constraints on school bell times and delivery time windows, while considering travel time. By minimizing the number of buses required, we can save money to invest on education.</a:t>
            </a:r>
            <a:endParaRPr lang="zh-CN" altLang="en-US" sz="3500" dirty="0"/>
          </a:p>
        </p:txBody>
      </p:sp>
    </p:spTree>
    <p:extLst>
      <p:ext uri="{BB962C8B-B14F-4D97-AF65-F5344CB8AC3E}">
        <p14:creationId xmlns:p14="http://schemas.microsoft.com/office/powerpoint/2010/main" val="3859523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558" y="276663"/>
            <a:ext cx="10058400" cy="1450757"/>
          </a:xfrm>
        </p:spPr>
        <p:txBody>
          <a:bodyPr/>
          <a:lstStyle/>
          <a:p>
            <a:pPr algn="ctr"/>
            <a:r>
              <a:rPr lang="en-US" altLang="zh-CN" dirty="0"/>
              <a:t>Definitions</a:t>
            </a:r>
            <a:endParaRPr lang="zh-CN" altLang="en-US" dirty="0"/>
          </a:p>
        </p:txBody>
      </p:sp>
      <p:sp>
        <p:nvSpPr>
          <p:cNvPr id="3" name="Content Placeholder 2"/>
          <p:cNvSpPr>
            <a:spLocks noGrp="1"/>
          </p:cNvSpPr>
          <p:nvPr>
            <p:ph idx="1"/>
          </p:nvPr>
        </p:nvSpPr>
        <p:spPr>
          <a:xfrm>
            <a:off x="888558" y="2054455"/>
            <a:ext cx="10302903" cy="4336405"/>
          </a:xfrm>
        </p:spPr>
        <p:txBody>
          <a:bodyPr>
            <a:normAutofit fontScale="92500" lnSpcReduction="10000"/>
          </a:bodyPr>
          <a:lstStyle/>
          <a:p>
            <a:r>
              <a:rPr lang="en-US" altLang="zh-CN" sz="2800" b="1" dirty="0"/>
              <a:t>Run:</a:t>
            </a:r>
            <a:r>
              <a:rPr lang="en-US" altLang="zh-CN" sz="2800" dirty="0"/>
              <a:t> The sequence of  bus stops from the beginning point to the school.</a:t>
            </a:r>
          </a:p>
          <a:p>
            <a:r>
              <a:rPr lang="en-US" altLang="zh-CN" sz="2800" b="1" dirty="0"/>
              <a:t>Route:</a:t>
            </a:r>
            <a:r>
              <a:rPr lang="en-US" altLang="zh-CN" sz="2800" dirty="0"/>
              <a:t> One or more runs linked together and served by a single bus.</a:t>
            </a:r>
          </a:p>
          <a:p>
            <a:r>
              <a:rPr lang="en-US" altLang="zh-CN" sz="2800" b="1" dirty="0"/>
              <a:t>Start time: </a:t>
            </a:r>
            <a:r>
              <a:rPr lang="en-US" altLang="zh-CN" sz="2800" dirty="0"/>
              <a:t>The time a bus starts at the beginning of a run.</a:t>
            </a:r>
          </a:p>
          <a:p>
            <a:r>
              <a:rPr lang="en-US" altLang="zh-CN" sz="2800" b="1" dirty="0"/>
              <a:t>Run time: </a:t>
            </a:r>
            <a:r>
              <a:rPr lang="en-US" altLang="zh-CN" sz="2800" dirty="0"/>
              <a:t>Time required to complete a run.</a:t>
            </a:r>
          </a:p>
          <a:p>
            <a:r>
              <a:rPr lang="en-US" altLang="zh-CN" sz="2800" b="1" dirty="0"/>
              <a:t>Bell time: </a:t>
            </a:r>
            <a:r>
              <a:rPr lang="en-US" altLang="zh-CN" sz="2800" dirty="0"/>
              <a:t>The latest time at which the bus can arrive at the school.</a:t>
            </a:r>
          </a:p>
          <a:p>
            <a:r>
              <a:rPr lang="en-US" altLang="zh-CN" sz="2800" b="1" dirty="0"/>
              <a:t>Time window:</a:t>
            </a:r>
            <a:r>
              <a:rPr lang="en-US" altLang="zh-CN" sz="2800" dirty="0"/>
              <a:t> The maximum number of minutes before the bell time during which the bus may arrive.</a:t>
            </a:r>
          </a:p>
          <a:p>
            <a:r>
              <a:rPr lang="en-US" altLang="zh-CN" sz="2800" b="1" dirty="0"/>
              <a:t>Deadhead time: </a:t>
            </a:r>
            <a:r>
              <a:rPr lang="en-US" altLang="zh-CN" sz="2800" dirty="0"/>
              <a:t>Time required to travel from a school to the origin point of a run.</a:t>
            </a:r>
          </a:p>
          <a:p>
            <a:endParaRPr lang="zh-CN" altLang="en-US" dirty="0"/>
          </a:p>
        </p:txBody>
      </p:sp>
    </p:spTree>
    <p:extLst>
      <p:ext uri="{BB962C8B-B14F-4D97-AF65-F5344CB8AC3E}">
        <p14:creationId xmlns:p14="http://schemas.microsoft.com/office/powerpoint/2010/main" val="3245670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359227" y="2987863"/>
            <a:ext cx="725487" cy="359695"/>
          </a:xfrm>
          <a:prstGeom prst="rect">
            <a:avLst/>
          </a:prstGeom>
        </p:spPr>
      </p:pic>
      <p:pic>
        <p:nvPicPr>
          <p:cNvPr id="4" name="Content Placeholder 3"/>
          <p:cNvPicPr>
            <a:picLocks noGrp="1" noChangeAspect="1"/>
          </p:cNvPicPr>
          <p:nvPr>
            <p:ph idx="1"/>
          </p:nvPr>
        </p:nvPicPr>
        <p:blipFill>
          <a:blip r:embed="rId3"/>
          <a:stretch>
            <a:fillRect/>
          </a:stretch>
        </p:blipFill>
        <p:spPr>
          <a:xfrm>
            <a:off x="1564469" y="2371590"/>
            <a:ext cx="9666747" cy="3383967"/>
          </a:xfrm>
          <a:prstGeom prst="rect">
            <a:avLst/>
          </a:prstGeom>
        </p:spPr>
      </p:pic>
      <p:pic>
        <p:nvPicPr>
          <p:cNvPr id="5" name="Picture 4"/>
          <p:cNvPicPr>
            <a:picLocks noChangeAspect="1"/>
          </p:cNvPicPr>
          <p:nvPr/>
        </p:nvPicPr>
        <p:blipFill>
          <a:blip r:embed="rId2"/>
          <a:stretch>
            <a:fillRect/>
          </a:stretch>
        </p:blipFill>
        <p:spPr>
          <a:xfrm>
            <a:off x="1420557" y="2118419"/>
            <a:ext cx="725487" cy="359695"/>
          </a:xfrm>
          <a:prstGeom prst="rect">
            <a:avLst/>
          </a:prstGeom>
        </p:spPr>
      </p:pic>
      <p:pic>
        <p:nvPicPr>
          <p:cNvPr id="9" name="Picture 8"/>
          <p:cNvPicPr>
            <a:picLocks noChangeAspect="1"/>
          </p:cNvPicPr>
          <p:nvPr/>
        </p:nvPicPr>
        <p:blipFill>
          <a:blip r:embed="rId2"/>
          <a:stretch>
            <a:fillRect/>
          </a:stretch>
        </p:blipFill>
        <p:spPr>
          <a:xfrm>
            <a:off x="6909828" y="3883727"/>
            <a:ext cx="725487" cy="359695"/>
          </a:xfrm>
          <a:prstGeom prst="rect">
            <a:avLst/>
          </a:prstGeom>
        </p:spPr>
      </p:pic>
      <p:sp>
        <p:nvSpPr>
          <p:cNvPr id="2" name="TextBox 1"/>
          <p:cNvSpPr txBox="1"/>
          <p:nvPr/>
        </p:nvSpPr>
        <p:spPr>
          <a:xfrm>
            <a:off x="5327374" y="3508513"/>
            <a:ext cx="288235" cy="369332"/>
          </a:xfrm>
          <a:prstGeom prst="rect">
            <a:avLst/>
          </a:prstGeom>
          <a:noFill/>
        </p:spPr>
        <p:txBody>
          <a:bodyPr wrap="square" rtlCol="0">
            <a:spAutoFit/>
          </a:bodyPr>
          <a:lstStyle/>
          <a:p>
            <a:r>
              <a:rPr lang="en-US" altLang="zh-CN" dirty="0"/>
              <a:t>A</a:t>
            </a:r>
            <a:endParaRPr lang="zh-CN" altLang="en-US" dirty="0"/>
          </a:p>
        </p:txBody>
      </p:sp>
      <p:sp>
        <p:nvSpPr>
          <p:cNvPr id="3" name="TextBox 2"/>
          <p:cNvSpPr txBox="1"/>
          <p:nvPr/>
        </p:nvSpPr>
        <p:spPr>
          <a:xfrm>
            <a:off x="10527236" y="3133435"/>
            <a:ext cx="387626" cy="369332"/>
          </a:xfrm>
          <a:prstGeom prst="rect">
            <a:avLst/>
          </a:prstGeom>
          <a:noFill/>
        </p:spPr>
        <p:txBody>
          <a:bodyPr wrap="square" rtlCol="0">
            <a:spAutoFit/>
          </a:bodyPr>
          <a:lstStyle/>
          <a:p>
            <a:r>
              <a:rPr lang="en-US" altLang="zh-CN" dirty="0"/>
              <a:t>B</a:t>
            </a:r>
            <a:endParaRPr lang="zh-CN" altLang="en-US" dirty="0"/>
          </a:p>
        </p:txBody>
      </p:sp>
      <p:sp>
        <p:nvSpPr>
          <p:cNvPr id="7" name="Flowchart: Connector 6"/>
          <p:cNvSpPr/>
          <p:nvPr/>
        </p:nvSpPr>
        <p:spPr>
          <a:xfrm>
            <a:off x="2146044" y="2631893"/>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lowchart: Connector 10"/>
          <p:cNvSpPr/>
          <p:nvPr/>
        </p:nvSpPr>
        <p:spPr>
          <a:xfrm>
            <a:off x="2507166" y="2718472"/>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lowchart: Connector 11"/>
          <p:cNvSpPr/>
          <p:nvPr/>
        </p:nvSpPr>
        <p:spPr>
          <a:xfrm>
            <a:off x="2881527" y="2938167"/>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lowchart: Connector 12"/>
          <p:cNvSpPr/>
          <p:nvPr/>
        </p:nvSpPr>
        <p:spPr>
          <a:xfrm>
            <a:off x="3153209" y="3297862"/>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lowchart: Connector 13"/>
          <p:cNvSpPr/>
          <p:nvPr/>
        </p:nvSpPr>
        <p:spPr>
          <a:xfrm>
            <a:off x="3365600" y="3643483"/>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lowchart: Connector 14"/>
          <p:cNvSpPr/>
          <p:nvPr/>
        </p:nvSpPr>
        <p:spPr>
          <a:xfrm>
            <a:off x="3952834" y="3693178"/>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lowchart: Connector 15"/>
          <p:cNvSpPr/>
          <p:nvPr/>
        </p:nvSpPr>
        <p:spPr>
          <a:xfrm>
            <a:off x="7584531" y="4243422"/>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lowchart: Connector 16"/>
          <p:cNvSpPr/>
          <p:nvPr/>
        </p:nvSpPr>
        <p:spPr>
          <a:xfrm>
            <a:off x="7973687" y="3964182"/>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lowchart: Connector 17"/>
          <p:cNvSpPr/>
          <p:nvPr/>
        </p:nvSpPr>
        <p:spPr>
          <a:xfrm>
            <a:off x="8302931" y="3593787"/>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lowchart: Connector 18"/>
          <p:cNvSpPr/>
          <p:nvPr/>
        </p:nvSpPr>
        <p:spPr>
          <a:xfrm>
            <a:off x="8724899" y="3374501"/>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lowchart: Connector 19"/>
          <p:cNvSpPr/>
          <p:nvPr/>
        </p:nvSpPr>
        <p:spPr>
          <a:xfrm>
            <a:off x="9275714" y="3218710"/>
            <a:ext cx="80321" cy="99391"/>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6508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Problem Statement</a:t>
            </a:r>
          </a:p>
        </p:txBody>
      </p:sp>
      <p:sp>
        <p:nvSpPr>
          <p:cNvPr id="3" name="Content Placeholder 2"/>
          <p:cNvSpPr>
            <a:spLocks noGrp="1"/>
          </p:cNvSpPr>
          <p:nvPr>
            <p:ph idx="1"/>
          </p:nvPr>
        </p:nvSpPr>
        <p:spPr/>
        <p:txBody>
          <a:bodyPr>
            <a:normAutofit lnSpcReduction="10000"/>
          </a:bodyPr>
          <a:lstStyle/>
          <a:p>
            <a:pPr>
              <a:buNone/>
            </a:pPr>
            <a:r>
              <a:rPr lang="en-US" dirty="0"/>
              <a:t>   </a:t>
            </a:r>
            <a:r>
              <a:rPr lang="en-US" sz="3300" dirty="0"/>
              <a:t>All the runs are predetermined and fixed and the time for each run is known. We need to coordinate and link as many runs as possible with respect to time windows and bell time. In short, we maximize the number of links which, in turn, minimizes the number of buses required. </a:t>
            </a:r>
          </a:p>
          <a:p>
            <a:pPr algn="ctr">
              <a:buNone/>
            </a:pPr>
            <a:r>
              <a:rPr lang="en-US" sz="3300" dirty="0"/>
              <a:t>Known: Runs </a:t>
            </a:r>
          </a:p>
          <a:p>
            <a:pPr algn="ctr">
              <a:buNone/>
            </a:pPr>
            <a:r>
              <a:rPr lang="en-US" sz="3300" dirty="0"/>
              <a:t>Unknown: Routes (links)</a:t>
            </a:r>
          </a:p>
          <a:p>
            <a:pPr algn="ctr">
              <a:buNone/>
            </a:pPr>
            <a:r>
              <a:rPr lang="en-US" sz="3300" dirty="0"/>
              <a:t>Objective: Min number of buses</a:t>
            </a:r>
          </a:p>
          <a:p>
            <a:endParaRPr lang="en-US" dirty="0"/>
          </a:p>
        </p:txBody>
      </p:sp>
    </p:spTree>
    <p:extLst>
      <p:ext uri="{BB962C8B-B14F-4D97-AF65-F5344CB8AC3E}">
        <p14:creationId xmlns:p14="http://schemas.microsoft.com/office/powerpoint/2010/main" val="9140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9897" y="0"/>
            <a:ext cx="10058400" cy="1450757"/>
          </a:xfrm>
        </p:spPr>
        <p:txBody>
          <a:bodyPr/>
          <a:lstStyle/>
          <a:p>
            <a:r>
              <a:rPr lang="en-US" altLang="zh-CN" dirty="0"/>
              <a:t>Variables and Parameters</a:t>
            </a:r>
            <a:endParaRPr lang="zh-CN" altLang="en-US" dirty="0"/>
          </a:p>
        </p:txBody>
      </p:sp>
      <p:sp>
        <p:nvSpPr>
          <p:cNvPr id="3" name="Content Placeholder 2"/>
          <p:cNvSpPr>
            <a:spLocks noGrp="1"/>
          </p:cNvSpPr>
          <p:nvPr>
            <p:ph idx="1"/>
          </p:nvPr>
        </p:nvSpPr>
        <p:spPr/>
        <p:txBody>
          <a:bodyPr>
            <a:normAutofit/>
          </a:bodyPr>
          <a:lstStyle/>
          <a:p>
            <a:r>
              <a:rPr lang="en-US" altLang="zh-CN" sz="2800" b="1" dirty="0"/>
              <a:t>Variables:</a:t>
            </a:r>
            <a:endParaRPr lang="en-US" altLang="zh-CN" sz="2800" dirty="0"/>
          </a:p>
          <a:p>
            <a:pPr lvl="1">
              <a:buNone/>
            </a:pPr>
            <a:r>
              <a:rPr lang="en-US" altLang="zh-CN" sz="2800" i="1" dirty="0"/>
              <a:t>S</a:t>
            </a:r>
            <a:r>
              <a:rPr lang="en-US" altLang="zh-CN" sz="2800" i="1" baseline="-25000" dirty="0"/>
              <a:t>i</a:t>
            </a:r>
            <a:r>
              <a:rPr lang="en-US" altLang="zh-CN" sz="2800" dirty="0"/>
              <a:t> = Start time for run</a:t>
            </a:r>
            <a:r>
              <a:rPr lang="en-US" altLang="zh-CN" sz="2800" i="1" dirty="0"/>
              <a:t> </a:t>
            </a:r>
            <a:r>
              <a:rPr lang="en-US" altLang="zh-CN" sz="2800" i="1" dirty="0" err="1"/>
              <a:t>i</a:t>
            </a:r>
            <a:endParaRPr lang="en-US" altLang="zh-CN" sz="2800" i="1" dirty="0"/>
          </a:p>
          <a:p>
            <a:pPr lvl="1">
              <a:buNone/>
            </a:pPr>
            <a:r>
              <a:rPr lang="en-US" altLang="zh-CN" sz="2800" i="1" dirty="0" err="1"/>
              <a:t>X</a:t>
            </a:r>
            <a:r>
              <a:rPr lang="en-US" altLang="zh-CN" sz="2800" i="1" baseline="-25000" dirty="0" err="1"/>
              <a:t>ij</a:t>
            </a:r>
            <a:r>
              <a:rPr lang="en-US" altLang="zh-CN" sz="2800" dirty="0"/>
              <a:t> = 1 if run </a:t>
            </a:r>
            <a:r>
              <a:rPr lang="en-US" altLang="zh-CN" sz="2800" i="1" dirty="0" err="1"/>
              <a:t>i</a:t>
            </a:r>
            <a:r>
              <a:rPr lang="en-US" altLang="zh-CN" sz="2800" dirty="0"/>
              <a:t> immediately precedes run </a:t>
            </a:r>
            <a:r>
              <a:rPr lang="en-US" altLang="zh-CN" sz="2800" i="1" dirty="0"/>
              <a:t>j</a:t>
            </a:r>
            <a:r>
              <a:rPr lang="en-US" altLang="zh-CN" sz="2800" dirty="0"/>
              <a:t> and = 0 otherwise</a:t>
            </a:r>
          </a:p>
          <a:p>
            <a:pPr marL="0" indent="0">
              <a:buNone/>
            </a:pPr>
            <a:r>
              <a:rPr lang="en-US" altLang="zh-CN" sz="2800" dirty="0"/>
              <a:t> </a:t>
            </a:r>
            <a:r>
              <a:rPr lang="en-US" altLang="zh-CN" sz="2800" b="1" dirty="0"/>
              <a:t>Parameters:</a:t>
            </a:r>
            <a:endParaRPr lang="en-US" altLang="zh-CN" sz="2800" dirty="0"/>
          </a:p>
          <a:p>
            <a:pPr lvl="1">
              <a:buNone/>
            </a:pPr>
            <a:r>
              <a:rPr lang="en-US" altLang="zh-CN" sz="2800" i="1" dirty="0"/>
              <a:t>B</a:t>
            </a:r>
            <a:r>
              <a:rPr lang="en-US" altLang="zh-CN" sz="2800" i="1" baseline="-25000" dirty="0"/>
              <a:t>i</a:t>
            </a:r>
            <a:r>
              <a:rPr lang="en-US" altLang="zh-CN" sz="2800" dirty="0"/>
              <a:t> = Bell time at school associated with run </a:t>
            </a:r>
            <a:r>
              <a:rPr lang="en-US" altLang="zh-CN" sz="2800" i="1" dirty="0" err="1"/>
              <a:t>i</a:t>
            </a:r>
            <a:endParaRPr lang="en-US" altLang="zh-CN" sz="2800" i="1" dirty="0"/>
          </a:p>
          <a:p>
            <a:pPr lvl="1">
              <a:buNone/>
            </a:pPr>
            <a:r>
              <a:rPr lang="en-US" altLang="zh-CN" sz="2800" i="1" dirty="0"/>
              <a:t>W</a:t>
            </a:r>
            <a:r>
              <a:rPr lang="en-US" altLang="zh-CN" sz="2800" i="1" baseline="-25000" dirty="0"/>
              <a:t>i</a:t>
            </a:r>
            <a:r>
              <a:rPr lang="en-US" altLang="zh-CN" sz="2800" i="1" dirty="0"/>
              <a:t> </a:t>
            </a:r>
            <a:r>
              <a:rPr lang="en-US" altLang="zh-CN" sz="2800" dirty="0"/>
              <a:t>= Length of the time window at school associated with run </a:t>
            </a:r>
            <a:r>
              <a:rPr lang="en-US" altLang="zh-CN" sz="2800" i="1" dirty="0" err="1"/>
              <a:t>i</a:t>
            </a:r>
            <a:endParaRPr lang="en-US" altLang="zh-CN" sz="2800" i="1" dirty="0"/>
          </a:p>
          <a:p>
            <a:pPr lvl="1">
              <a:buNone/>
            </a:pPr>
            <a:r>
              <a:rPr lang="en-US" altLang="zh-CN" sz="2800" i="1" dirty="0" err="1"/>
              <a:t>R</a:t>
            </a:r>
            <a:r>
              <a:rPr lang="en-US" altLang="zh-CN" sz="2800" i="1" baseline="-25000" dirty="0" err="1"/>
              <a:t>i</a:t>
            </a:r>
            <a:r>
              <a:rPr lang="en-US" altLang="zh-CN" sz="2800" i="1" dirty="0"/>
              <a:t> </a:t>
            </a:r>
            <a:r>
              <a:rPr lang="en-US" altLang="zh-CN" sz="2800" dirty="0"/>
              <a:t>= Time to complete run </a:t>
            </a:r>
            <a:r>
              <a:rPr lang="en-US" altLang="zh-CN" sz="2800" i="1" dirty="0" err="1"/>
              <a:t>i</a:t>
            </a:r>
            <a:r>
              <a:rPr lang="en-US" altLang="zh-CN" sz="2800" dirty="0"/>
              <a:t> </a:t>
            </a:r>
          </a:p>
          <a:p>
            <a:pPr lvl="1">
              <a:buNone/>
            </a:pPr>
            <a:r>
              <a:rPr lang="en-US" altLang="zh-CN" sz="2800" i="1" dirty="0"/>
              <a:t>T</a:t>
            </a:r>
            <a:r>
              <a:rPr lang="en-US" altLang="zh-CN" sz="2800" i="1" baseline="-25000" dirty="0"/>
              <a:t>ij</a:t>
            </a:r>
            <a:r>
              <a:rPr lang="en-US" altLang="zh-CN" sz="2800" dirty="0"/>
              <a:t> = Deadhead time between run </a:t>
            </a:r>
            <a:r>
              <a:rPr lang="en-US" altLang="zh-CN" sz="2800" i="1" dirty="0" err="1"/>
              <a:t>i</a:t>
            </a:r>
            <a:r>
              <a:rPr lang="en-US" altLang="zh-CN" sz="2800" dirty="0"/>
              <a:t> and run </a:t>
            </a:r>
            <a:r>
              <a:rPr lang="en-US" altLang="zh-CN" sz="2800" i="1" dirty="0"/>
              <a:t>j</a:t>
            </a:r>
          </a:p>
          <a:p>
            <a:endParaRPr lang="zh-CN" altLang="en-US" dirty="0"/>
          </a:p>
        </p:txBody>
      </p:sp>
    </p:spTree>
    <p:extLst>
      <p:ext uri="{BB962C8B-B14F-4D97-AF65-F5344CB8AC3E}">
        <p14:creationId xmlns:p14="http://schemas.microsoft.com/office/powerpoint/2010/main" val="3854723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dirty="0"/>
              <a:t>Methods</a:t>
            </a:r>
            <a:endParaRPr lang="zh-CN" altLang="en-US" dirty="0"/>
          </a:p>
        </p:txBody>
      </p:sp>
      <p:sp>
        <p:nvSpPr>
          <p:cNvPr id="3" name="Content Placeholder 2"/>
          <p:cNvSpPr>
            <a:spLocks noGrp="1"/>
          </p:cNvSpPr>
          <p:nvPr>
            <p:ph idx="1"/>
          </p:nvPr>
        </p:nvSpPr>
        <p:spPr>
          <a:xfrm>
            <a:off x="1097279" y="1845734"/>
            <a:ext cx="10253207" cy="4276770"/>
          </a:xfrm>
        </p:spPr>
        <p:txBody>
          <a:bodyPr>
            <a:normAutofit/>
          </a:bodyPr>
          <a:lstStyle/>
          <a:p>
            <a:r>
              <a:rPr lang="en-US" altLang="zh-CN" sz="2500" dirty="0"/>
              <a:t>1. Optimization method solves the school bus fleet size problem optimally by using a mixed integer linear programming model. Both routing and scheduling problems are solved simultaneously. It becomes computationally intractable when the problem size increases. </a:t>
            </a:r>
          </a:p>
          <a:p>
            <a:endParaRPr lang="en-US" altLang="zh-CN" sz="2500" dirty="0"/>
          </a:p>
          <a:p>
            <a:r>
              <a:rPr lang="en-US" altLang="zh-CN" sz="2500" dirty="0"/>
              <a:t>2. Greedy heuristic method for the routing portion and an optimal method for the scheduling portion.</a:t>
            </a:r>
          </a:p>
          <a:p>
            <a:endParaRPr lang="zh-CN" altLang="en-US" dirty="0"/>
          </a:p>
        </p:txBody>
      </p:sp>
    </p:spTree>
    <p:extLst>
      <p:ext uri="{BB962C8B-B14F-4D97-AF65-F5344CB8AC3E}">
        <p14:creationId xmlns:p14="http://schemas.microsoft.com/office/powerpoint/2010/main" val="1434276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296" y="315884"/>
            <a:ext cx="12066104" cy="1134873"/>
          </a:xfrm>
        </p:spPr>
        <p:txBody>
          <a:bodyPr/>
          <a:lstStyle/>
          <a:p>
            <a:r>
              <a:rPr lang="en-US" altLang="zh-CN" dirty="0"/>
              <a:t>1. Optimization Model (Routing and Scheduling)</a:t>
            </a:r>
            <a:endParaRPr lang="zh-CN" altLang="en-US" dirty="0"/>
          </a:p>
        </p:txBody>
      </p:sp>
      <p:pic>
        <p:nvPicPr>
          <p:cNvPr id="5" name="Picture 4"/>
          <p:cNvPicPr>
            <a:picLocks noChangeAspect="1"/>
          </p:cNvPicPr>
          <p:nvPr/>
        </p:nvPicPr>
        <p:blipFill>
          <a:blip r:embed="rId2"/>
          <a:stretch>
            <a:fillRect/>
          </a:stretch>
        </p:blipFill>
        <p:spPr>
          <a:xfrm>
            <a:off x="159025" y="1848706"/>
            <a:ext cx="4055165" cy="824919"/>
          </a:xfrm>
          <a:prstGeom prst="rect">
            <a:avLst/>
          </a:prstGeom>
        </p:spPr>
      </p:pic>
      <p:pic>
        <p:nvPicPr>
          <p:cNvPr id="7" name="Picture 6"/>
          <p:cNvPicPr>
            <a:picLocks noChangeAspect="1"/>
          </p:cNvPicPr>
          <p:nvPr/>
        </p:nvPicPr>
        <p:blipFill>
          <a:blip r:embed="rId3"/>
          <a:stretch>
            <a:fillRect/>
          </a:stretch>
        </p:blipFill>
        <p:spPr>
          <a:xfrm>
            <a:off x="278296" y="5512324"/>
            <a:ext cx="3132530" cy="447902"/>
          </a:xfrm>
          <a:prstGeom prst="rect">
            <a:avLst/>
          </a:prstGeom>
        </p:spPr>
      </p:pic>
      <p:pic>
        <p:nvPicPr>
          <p:cNvPr id="9" name="Content Placeholder 8"/>
          <p:cNvPicPr>
            <a:picLocks noGrp="1" noChangeAspect="1"/>
          </p:cNvPicPr>
          <p:nvPr>
            <p:ph idx="1"/>
          </p:nvPr>
        </p:nvPicPr>
        <p:blipFill>
          <a:blip r:embed="rId4"/>
          <a:stretch>
            <a:fillRect/>
          </a:stretch>
        </p:blipFill>
        <p:spPr>
          <a:xfrm>
            <a:off x="3826565" y="1895792"/>
            <a:ext cx="8068948" cy="3944157"/>
          </a:xfrm>
          <a:prstGeom prst="rect">
            <a:avLst/>
          </a:prstGeom>
        </p:spPr>
      </p:pic>
      <p:sp>
        <p:nvSpPr>
          <p:cNvPr id="3" name="TextBox 2"/>
          <p:cNvSpPr txBox="1"/>
          <p:nvPr/>
        </p:nvSpPr>
        <p:spPr>
          <a:xfrm>
            <a:off x="278296" y="4465545"/>
            <a:ext cx="3826565" cy="1292662"/>
          </a:xfrm>
          <a:prstGeom prst="rect">
            <a:avLst/>
          </a:prstGeom>
          <a:noFill/>
        </p:spPr>
        <p:txBody>
          <a:bodyPr wrap="square" rtlCol="0">
            <a:spAutoFit/>
          </a:bodyPr>
          <a:lstStyle/>
          <a:p>
            <a:r>
              <a:rPr lang="en-US" altLang="zh-CN" sz="2000" dirty="0"/>
              <a:t>If number of runs = n</a:t>
            </a:r>
          </a:p>
          <a:p>
            <a:r>
              <a:rPr lang="en-US" altLang="zh-CN" sz="2000" dirty="0"/>
              <a:t>Number of variables = n</a:t>
            </a:r>
            <a:r>
              <a:rPr lang="en-US" altLang="zh-CN" sz="2000" baseline="30000" dirty="0"/>
              <a:t>2</a:t>
            </a:r>
          </a:p>
          <a:p>
            <a:r>
              <a:rPr lang="en-US" altLang="zh-CN" sz="2000" dirty="0"/>
              <a:t>Number of constraints = 3n + n</a:t>
            </a:r>
            <a:r>
              <a:rPr lang="en-US" altLang="zh-CN" sz="2000" baseline="30000" dirty="0"/>
              <a:t>2</a:t>
            </a:r>
          </a:p>
          <a:p>
            <a:endParaRPr lang="zh-CN" altLang="en-US" dirty="0"/>
          </a:p>
        </p:txBody>
      </p:sp>
    </p:spTree>
    <p:extLst>
      <p:ext uri="{BB962C8B-B14F-4D97-AF65-F5344CB8AC3E}">
        <p14:creationId xmlns:p14="http://schemas.microsoft.com/office/powerpoint/2010/main" val="2631226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132" y="167333"/>
            <a:ext cx="10058400" cy="1450757"/>
          </a:xfrm>
        </p:spPr>
        <p:txBody>
          <a:bodyPr/>
          <a:lstStyle/>
          <a:p>
            <a:r>
              <a:rPr lang="en-US" altLang="zh-CN" dirty="0"/>
              <a:t>2 Greedy Heuristic (Routing Only)</a:t>
            </a:r>
            <a:endParaRPr lang="zh-CN"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58132" y="1730675"/>
                <a:ext cx="10768054" cy="4512364"/>
              </a:xfrm>
            </p:spPr>
            <p:txBody>
              <a:bodyPr>
                <a:noAutofit/>
              </a:bodyPr>
              <a:lstStyle/>
              <a:p>
                <a:pPr marL="0" indent="0">
                  <a:buNone/>
                </a:pPr>
                <a:r>
                  <a:rPr lang="en-US" altLang="zh-CN" sz="2400" dirty="0"/>
                  <a:t>Penalty calculation:</a:t>
                </a:r>
              </a:p>
              <a:p>
                <a:pPr marL="0" indent="0">
                  <a:buNone/>
                </a:pPr>
                <a:r>
                  <a:rPr lang="en-US" altLang="zh-CN" sz="2400" dirty="0"/>
                  <a:t>Step 0: </a:t>
                </a:r>
                <a:r>
                  <a:rPr lang="en-US" altLang="zh-CN" sz="2400" dirty="0" err="1"/>
                  <a:t>P</a:t>
                </a:r>
                <a:r>
                  <a:rPr lang="en-US" altLang="zh-CN" sz="1800" i="1" baseline="-25000" dirty="0" err="1"/>
                  <a:t>ij</a:t>
                </a:r>
                <a:r>
                  <a:rPr lang="en-US" altLang="zh-CN" sz="2400" dirty="0"/>
                  <a:t> = M if </a:t>
                </a:r>
                <a:r>
                  <a:rPr lang="en-US" altLang="zh-CN" sz="2400" i="1" dirty="0" err="1"/>
                  <a:t>i</a:t>
                </a:r>
                <a:r>
                  <a:rPr lang="en-US" altLang="zh-CN" sz="2400" dirty="0"/>
                  <a:t> = </a:t>
                </a:r>
                <a:r>
                  <a:rPr lang="en-US" altLang="zh-CN" sz="2400" i="1" dirty="0"/>
                  <a:t>j</a:t>
                </a:r>
                <a:r>
                  <a:rPr lang="en-US" altLang="zh-CN" sz="2400" dirty="0"/>
                  <a:t> or if </a:t>
                </a:r>
                <a:r>
                  <a:rPr lang="en-US" altLang="zh-CN" sz="2400" dirty="0" err="1"/>
                  <a:t>T</a:t>
                </a:r>
                <a:r>
                  <a:rPr lang="en-US" altLang="zh-CN" sz="2400" i="1" baseline="-25000" dirty="0" err="1"/>
                  <a:t>ij</a:t>
                </a:r>
                <a:r>
                  <a:rPr lang="en-US" altLang="zh-CN" sz="2400" i="1" dirty="0"/>
                  <a:t> </a:t>
                </a:r>
                <a:r>
                  <a:rPr lang="en-US" altLang="zh-CN" sz="2400" dirty="0"/>
                  <a:t>&gt;</a:t>
                </a:r>
                <a:r>
                  <a:rPr lang="en-US" altLang="zh-CN" sz="2400" i="1" dirty="0"/>
                  <a:t> (</a:t>
                </a:r>
                <a:r>
                  <a:rPr lang="en-US" altLang="zh-CN" sz="2400" dirty="0" err="1"/>
                  <a:t>B</a:t>
                </a:r>
                <a:r>
                  <a:rPr lang="en-US" altLang="zh-CN" sz="2400" i="1" baseline="-25000" dirty="0" err="1"/>
                  <a:t>j</a:t>
                </a:r>
                <a:r>
                  <a:rPr lang="en-US" altLang="zh-CN" sz="2400" dirty="0"/>
                  <a:t> – </a:t>
                </a:r>
                <a:r>
                  <a:rPr lang="en-US" altLang="zh-CN" sz="2400" dirty="0" err="1"/>
                  <a:t>R</a:t>
                </a:r>
                <a:r>
                  <a:rPr lang="en-US" altLang="zh-CN" sz="2400" i="1" baseline="-25000" dirty="0" err="1"/>
                  <a:t>j</a:t>
                </a:r>
                <a:r>
                  <a:rPr lang="en-US" altLang="zh-CN" sz="2400" dirty="0"/>
                  <a:t>) – (B</a:t>
                </a:r>
                <a:r>
                  <a:rPr lang="en-US" altLang="zh-CN" sz="2400" baseline="-25000" dirty="0"/>
                  <a:t>i</a:t>
                </a:r>
                <a:r>
                  <a:rPr lang="en-US" altLang="zh-CN" sz="2400" dirty="0"/>
                  <a:t> – W</a:t>
                </a:r>
                <a:r>
                  <a:rPr lang="en-US" altLang="zh-CN" sz="2400" baseline="-25000" dirty="0"/>
                  <a:t>i</a:t>
                </a:r>
                <a:r>
                  <a:rPr lang="en-US" altLang="zh-CN" sz="2400" dirty="0"/>
                  <a:t>)</a:t>
                </a:r>
              </a:p>
              <a:p>
                <a:pPr marL="0" indent="0">
                  <a:buNone/>
                </a:pPr>
                <a:r>
                  <a:rPr lang="en-US" altLang="zh-CN" sz="2400" dirty="0"/>
                  <a:t>Step 1 : Spatial separation associated with linking run </a:t>
                </a:r>
                <a:r>
                  <a:rPr lang="en-US" altLang="zh-CN" sz="2400" i="1" dirty="0" err="1"/>
                  <a:t>i</a:t>
                </a:r>
                <a:r>
                  <a:rPr lang="en-US" altLang="zh-CN" sz="2400" dirty="0"/>
                  <a:t> and run </a:t>
                </a:r>
                <a:r>
                  <a:rPr lang="en-US" altLang="zh-CN" sz="2400" i="1" dirty="0"/>
                  <a:t>j </a:t>
                </a:r>
                <a:r>
                  <a:rPr lang="en-US" altLang="zh-CN" sz="2400" dirty="0"/>
                  <a:t>is</a:t>
                </a:r>
                <a:r>
                  <a:rPr lang="en-US" altLang="zh-CN" sz="2400" i="1" dirty="0"/>
                  <a:t> </a:t>
                </a:r>
                <a:r>
                  <a:rPr lang="en-US" altLang="zh-CN" sz="2400" dirty="0" err="1"/>
                  <a:t>T</a:t>
                </a:r>
                <a:r>
                  <a:rPr lang="en-US" altLang="zh-CN" sz="1800" i="1" baseline="-25000" dirty="0" err="1"/>
                  <a:t>ij</a:t>
                </a:r>
                <a:r>
                  <a:rPr lang="en-US" altLang="zh-CN" sz="2400" dirty="0"/>
                  <a:t> (deadhead time between run </a:t>
                </a:r>
                <a:r>
                  <a:rPr lang="en-US" altLang="zh-CN" sz="2400" i="1" dirty="0" err="1"/>
                  <a:t>i</a:t>
                </a:r>
                <a:r>
                  <a:rPr lang="en-US" altLang="zh-CN" sz="2400" dirty="0"/>
                  <a:t> and run </a:t>
                </a:r>
                <a:r>
                  <a:rPr lang="en-US" altLang="zh-CN" sz="2400" i="1" dirty="0"/>
                  <a:t>j</a:t>
                </a:r>
                <a:r>
                  <a:rPr lang="en-US" altLang="zh-CN" sz="2400" dirty="0"/>
                  <a:t>)</a:t>
                </a:r>
              </a:p>
              <a:p>
                <a:pPr marL="0" indent="0">
                  <a:buNone/>
                </a:pPr>
                <a:r>
                  <a:rPr lang="en-US" altLang="zh-CN" sz="2400" dirty="0"/>
                  <a:t>Step 2 : Temporal separation associated with linking run </a:t>
                </a:r>
                <a:r>
                  <a:rPr lang="en-US" altLang="zh-CN" sz="2400" i="1" dirty="0" err="1"/>
                  <a:t>i</a:t>
                </a:r>
                <a:r>
                  <a:rPr lang="en-US" altLang="zh-CN" sz="2400" dirty="0"/>
                  <a:t> and run </a:t>
                </a:r>
                <a:r>
                  <a:rPr lang="en-US" altLang="zh-CN" sz="2400" i="1" dirty="0"/>
                  <a:t>j </a:t>
                </a:r>
                <a:r>
                  <a:rPr lang="en-US" altLang="zh-CN" sz="2400" dirty="0"/>
                  <a:t>is</a:t>
                </a:r>
                <a:r>
                  <a:rPr lang="en-US" altLang="zh-CN" sz="2400" i="1" dirty="0"/>
                  <a:t>  </a:t>
                </a:r>
              </a:p>
              <a:p>
                <a:pPr marL="0" indent="0">
                  <a:buNone/>
                </a:pPr>
                <a:r>
                  <a:rPr lang="en-US" altLang="zh-CN" sz="2400" dirty="0"/>
                  <a:t>                                       |(B</a:t>
                </a:r>
                <a:r>
                  <a:rPr lang="en-US" altLang="zh-CN" sz="2400" i="1" baseline="-25000" dirty="0"/>
                  <a:t>i</a:t>
                </a:r>
                <a:r>
                  <a:rPr lang="en-US" altLang="zh-CN" sz="2400" dirty="0"/>
                  <a:t> – W</a:t>
                </a:r>
                <a:r>
                  <a:rPr lang="en-US" altLang="zh-CN" sz="2400" i="1" baseline="-25000" dirty="0"/>
                  <a:t>i</a:t>
                </a:r>
                <a:r>
                  <a:rPr lang="en-US" altLang="zh-CN" sz="2400" dirty="0"/>
                  <a:t>/2 + T</a:t>
                </a:r>
                <a:r>
                  <a:rPr lang="en-US" altLang="zh-CN" sz="2400" i="1" baseline="-25000" dirty="0"/>
                  <a:t>ij</a:t>
                </a:r>
                <a:r>
                  <a:rPr lang="en-US" altLang="zh-CN" sz="2400" dirty="0"/>
                  <a:t>) – (B</a:t>
                </a:r>
                <a:r>
                  <a:rPr lang="en-US" altLang="zh-CN" sz="2400" i="1" baseline="-25000" dirty="0"/>
                  <a:t>j</a:t>
                </a:r>
                <a:r>
                  <a:rPr lang="en-US" altLang="zh-CN" sz="2400" dirty="0"/>
                  <a:t> – </a:t>
                </a:r>
                <a:r>
                  <a:rPr lang="en-US" altLang="zh-CN" sz="2400" dirty="0" err="1"/>
                  <a:t>W</a:t>
                </a:r>
                <a:r>
                  <a:rPr lang="en-US" altLang="zh-CN" sz="2400" i="1" baseline="-25000" dirty="0" err="1"/>
                  <a:t>j</a:t>
                </a:r>
                <a:r>
                  <a:rPr lang="en-US" altLang="zh-CN" sz="2400" dirty="0"/>
                  <a:t>/2 – </a:t>
                </a:r>
                <a:r>
                  <a:rPr lang="en-US" altLang="zh-CN" sz="2400" dirty="0" err="1"/>
                  <a:t>R</a:t>
                </a:r>
                <a:r>
                  <a:rPr lang="en-US" altLang="zh-CN" sz="2400" i="1" baseline="-25000" dirty="0" err="1"/>
                  <a:t>j</a:t>
                </a:r>
                <a:r>
                  <a:rPr lang="en-US" altLang="zh-CN" sz="2400" dirty="0"/>
                  <a:t>)|</a:t>
                </a:r>
              </a:p>
              <a:p>
                <a:pPr marL="0" indent="0">
                  <a:buNone/>
                </a:pPr>
                <a:r>
                  <a:rPr lang="en-US" altLang="zh-CN" sz="2400" dirty="0"/>
                  <a:t>Step 3 : The penalty is a weighted average of the spatial and temporal separations of runs. We place a weight equal to 1 –</a:t>
                </a:r>
                <a14:m>
                  <m:oMath xmlns:m="http://schemas.openxmlformats.org/officeDocument/2006/math">
                    <m:r>
                      <a:rPr lang="zh-CN" altLang="en-US" sz="2400" i="1" smtClean="0">
                        <a:latin typeface="Cambria Math" panose="02040503050406030204" pitchFamily="18" charset="0"/>
                      </a:rPr>
                      <m:t>𝛼</m:t>
                    </m:r>
                  </m:oMath>
                </a14:m>
                <a:r>
                  <a:rPr lang="en-US" altLang="zh-CN" sz="2400" dirty="0"/>
                  <a:t> on the spatial separation and a weight equal to </a:t>
                </a:r>
                <a:r>
                  <a:rPr lang="zh-CN" altLang="en-US" sz="2400" dirty="0"/>
                  <a:t>𝛼 </a:t>
                </a:r>
                <a:r>
                  <a:rPr lang="en-US" altLang="zh-CN" sz="2400" dirty="0"/>
                  <a:t>on the temporal separation, where 0 </a:t>
                </a:r>
                <a:r>
                  <a:rPr lang="en-US" altLang="zh-CN" sz="2400" dirty="0">
                    <a:latin typeface="Calibri" panose="020F0502020204030204" pitchFamily="34" charset="0"/>
                  </a:rPr>
                  <a:t>≤</a:t>
                </a:r>
                <a:r>
                  <a:rPr lang="en-US" altLang="zh-CN" sz="2400" dirty="0"/>
                  <a:t> </a:t>
                </a:r>
                <a:r>
                  <a:rPr lang="zh-CN" altLang="en-US" sz="2400" dirty="0"/>
                  <a:t>𝛼 </a:t>
                </a:r>
                <a:r>
                  <a:rPr lang="en-US" altLang="zh-CN" sz="2400" dirty="0">
                    <a:latin typeface="Calibri" panose="020F0502020204030204" pitchFamily="34" charset="0"/>
                  </a:rPr>
                  <a:t>≤</a:t>
                </a:r>
                <a:r>
                  <a:rPr lang="zh-CN" altLang="en-US" sz="2400" dirty="0"/>
                  <a:t> </a:t>
                </a:r>
                <a:r>
                  <a:rPr lang="en-US" altLang="zh-CN" sz="2400" dirty="0"/>
                  <a:t>1:</a:t>
                </a:r>
              </a:p>
              <a:p>
                <a:pPr marL="0" indent="0">
                  <a:buNone/>
                </a:pPr>
                <a:r>
                  <a:rPr lang="en-US" altLang="zh-CN" sz="2400" dirty="0"/>
                  <a:t>                        </a:t>
                </a:r>
                <a:r>
                  <a:rPr lang="en-US" altLang="zh-CN" sz="2400" dirty="0" err="1"/>
                  <a:t>P</a:t>
                </a:r>
                <a:r>
                  <a:rPr lang="en-US" altLang="zh-CN" sz="2400" i="1" baseline="-25000" dirty="0" err="1"/>
                  <a:t>ij</a:t>
                </a:r>
                <a:r>
                  <a:rPr lang="en-US" altLang="zh-CN" sz="2400" dirty="0"/>
                  <a:t> = (1 – </a:t>
                </a:r>
                <a:r>
                  <a:rPr lang="zh-CN" altLang="en-US" sz="2400" dirty="0"/>
                  <a:t>𝛼</a:t>
                </a:r>
                <a:r>
                  <a:rPr lang="en-US" altLang="zh-CN" sz="2400" dirty="0"/>
                  <a:t>)</a:t>
                </a:r>
                <a:r>
                  <a:rPr lang="en-US" altLang="zh-CN" sz="2400" dirty="0" err="1"/>
                  <a:t>T</a:t>
                </a:r>
                <a:r>
                  <a:rPr lang="en-US" altLang="zh-CN" sz="2400" i="1" baseline="-25000" dirty="0" err="1"/>
                  <a:t>ij</a:t>
                </a:r>
                <a:r>
                  <a:rPr lang="en-US" altLang="zh-CN" sz="2400" dirty="0"/>
                  <a:t> + </a:t>
                </a:r>
                <a:r>
                  <a:rPr lang="zh-CN" altLang="en-US" sz="2400" dirty="0"/>
                  <a:t>𝛼</a:t>
                </a:r>
                <a:r>
                  <a:rPr lang="en-US" altLang="zh-CN" sz="2400" dirty="0"/>
                  <a:t>|(B</a:t>
                </a:r>
                <a:r>
                  <a:rPr lang="en-US" altLang="zh-CN" sz="2400" i="1" baseline="-25000" dirty="0"/>
                  <a:t>i</a:t>
                </a:r>
                <a:r>
                  <a:rPr lang="en-US" altLang="zh-CN" sz="2400" dirty="0"/>
                  <a:t> – W</a:t>
                </a:r>
                <a:r>
                  <a:rPr lang="en-US" altLang="zh-CN" sz="2400" i="1" baseline="-25000" dirty="0"/>
                  <a:t>i</a:t>
                </a:r>
                <a:r>
                  <a:rPr lang="en-US" altLang="zh-CN" sz="2400" dirty="0"/>
                  <a:t>/2 + </a:t>
                </a:r>
                <a:r>
                  <a:rPr lang="en-US" altLang="zh-CN" sz="2400" dirty="0" err="1"/>
                  <a:t>T</a:t>
                </a:r>
                <a:r>
                  <a:rPr lang="en-US" altLang="zh-CN" sz="2400" i="1" baseline="-25000" dirty="0" err="1"/>
                  <a:t>ij</a:t>
                </a:r>
                <a:r>
                  <a:rPr lang="en-US" altLang="zh-CN" sz="2400" dirty="0"/>
                  <a:t>) – (</a:t>
                </a:r>
                <a:r>
                  <a:rPr lang="en-US" altLang="zh-CN" sz="2400" dirty="0" err="1"/>
                  <a:t>B</a:t>
                </a:r>
                <a:r>
                  <a:rPr lang="en-US" altLang="zh-CN" sz="2400" i="1" baseline="-25000" dirty="0" err="1"/>
                  <a:t>j</a:t>
                </a:r>
                <a:r>
                  <a:rPr lang="en-US" altLang="zh-CN" sz="2400" dirty="0"/>
                  <a:t> – </a:t>
                </a:r>
                <a:r>
                  <a:rPr lang="en-US" altLang="zh-CN" sz="2400" dirty="0" err="1"/>
                  <a:t>W</a:t>
                </a:r>
                <a:r>
                  <a:rPr lang="en-US" altLang="zh-CN" sz="2400" i="1" baseline="-25000" dirty="0" err="1"/>
                  <a:t>j</a:t>
                </a:r>
                <a:r>
                  <a:rPr lang="en-US" altLang="zh-CN" sz="2400" dirty="0"/>
                  <a:t>/2 –</a:t>
                </a:r>
                <a:r>
                  <a:rPr lang="en-US" altLang="zh-CN" sz="2400" dirty="0" err="1"/>
                  <a:t>R</a:t>
                </a:r>
                <a:r>
                  <a:rPr lang="en-US" altLang="zh-CN" sz="2400" i="1" baseline="-25000" dirty="0" err="1"/>
                  <a:t>j</a:t>
                </a:r>
                <a:r>
                  <a:rPr lang="en-US" altLang="zh-CN" sz="2400" dirty="0"/>
                  <a:t>)|</a:t>
                </a:r>
                <a:endParaRPr lang="zh-CN" alt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58132" y="1730675"/>
                <a:ext cx="10768054" cy="4512364"/>
              </a:xfrm>
              <a:blipFill rotWithShape="0">
                <a:blip r:embed="rId2"/>
                <a:stretch>
                  <a:fillRect l="-1698" t="-1892" r="-226" b="-1757"/>
                </a:stretch>
              </a:blipFill>
            </p:spPr>
            <p:txBody>
              <a:bodyPr/>
              <a:lstStyle/>
              <a:p>
                <a:r>
                  <a:rPr lang="en-US">
                    <a:noFill/>
                  </a:rPr>
                  <a:t> </a:t>
                </a:r>
              </a:p>
            </p:txBody>
          </p:sp>
        </mc:Fallback>
      </mc:AlternateContent>
    </p:spTree>
    <p:extLst>
      <p:ext uri="{BB962C8B-B14F-4D97-AF65-F5344CB8AC3E}">
        <p14:creationId xmlns:p14="http://schemas.microsoft.com/office/powerpoint/2010/main" val="2398154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Algorithm</a:t>
            </a:r>
          </a:p>
        </p:txBody>
      </p:sp>
      <p:sp>
        <p:nvSpPr>
          <p:cNvPr id="3" name="Content Placeholder 2"/>
          <p:cNvSpPr>
            <a:spLocks noGrp="1"/>
          </p:cNvSpPr>
          <p:nvPr>
            <p:ph idx="1"/>
          </p:nvPr>
        </p:nvSpPr>
        <p:spPr/>
        <p:txBody>
          <a:bodyPr>
            <a:normAutofit fontScale="92500"/>
          </a:bodyPr>
          <a:lstStyle/>
          <a:p>
            <a:pPr marL="457200" indent="-457200">
              <a:buFont typeface="+mj-lt"/>
              <a:buAutoNum type="arabicPeriod"/>
            </a:pPr>
            <a:r>
              <a:rPr lang="en-US" sz="2800" dirty="0"/>
              <a:t>Find smallest penalty in the penalty matrix (number of runs x number of runs).</a:t>
            </a:r>
          </a:p>
          <a:p>
            <a:pPr marL="457200" indent="-457200">
              <a:buFont typeface="+mj-lt"/>
              <a:buAutoNum type="arabicPeriod"/>
            </a:pPr>
            <a:r>
              <a:rPr lang="en-US" sz="2800" dirty="0"/>
              <a:t>Add the link associated with this penalty to the list and delete the row and column associated with this smallest penalty.</a:t>
            </a:r>
          </a:p>
          <a:p>
            <a:pPr marL="457200" indent="-457200">
              <a:buFont typeface="+mj-lt"/>
              <a:buAutoNum type="arabicPeriod"/>
            </a:pPr>
            <a:r>
              <a:rPr lang="en-US" sz="2800" dirty="0"/>
              <a:t>Repeat Steps 1 and 2 until all remaining penalties equal M.</a:t>
            </a:r>
          </a:p>
          <a:p>
            <a:pPr marL="457200" indent="-457200">
              <a:buFont typeface="+mj-lt"/>
              <a:buAutoNum type="arabicPeriod"/>
            </a:pPr>
            <a:r>
              <a:rPr lang="en-US" sz="2800" dirty="0"/>
              <a:t>Seek a feasible schedule for the links identified.</a:t>
            </a:r>
          </a:p>
          <a:p>
            <a:pPr marL="457200" indent="-457200">
              <a:buFont typeface="+mj-lt"/>
              <a:buAutoNum type="arabicPeriod"/>
            </a:pPr>
            <a:r>
              <a:rPr lang="en-US" sz="2800" dirty="0"/>
              <a:t>If no feasible schedule, then drop the link with the highest penalty and repeat Step 4. If we find a feasible schedule, then the number of buses required equals the number of runs minus the number of links. Stop.</a:t>
            </a:r>
          </a:p>
        </p:txBody>
      </p:sp>
    </p:spTree>
    <p:extLst>
      <p:ext uri="{BB962C8B-B14F-4D97-AF65-F5344CB8AC3E}">
        <p14:creationId xmlns:p14="http://schemas.microsoft.com/office/powerpoint/2010/main" val="1648632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97622" y="1694575"/>
            <a:ext cx="3087149" cy="1878887"/>
          </a:xfrm>
        </p:spPr>
        <p:txBody>
          <a:bodyPr>
            <a:normAutofit fontScale="90000"/>
          </a:bodyPr>
          <a:lstStyle/>
          <a:p>
            <a:r>
              <a:rPr lang="en-US" altLang="zh-CN" dirty="0"/>
              <a:t>Penalty List</a:t>
            </a:r>
            <a:br>
              <a:rPr lang="en-US" altLang="zh-CN" dirty="0"/>
            </a:br>
            <a:r>
              <a:rPr lang="en-US" altLang="zh-CN" dirty="0"/>
              <a:t>with n = 20</a:t>
            </a:r>
            <a:br>
              <a:rPr lang="en-US" altLang="zh-CN" dirty="0"/>
            </a:br>
            <a:r>
              <a:rPr lang="en-US" altLang="zh-CN" dirty="0"/>
              <a:t>and </a:t>
            </a:r>
            <a:r>
              <a:rPr lang="el-GR" altLang="zh-CN" dirty="0">
                <a:latin typeface="Calibri" panose="020F0502020204030204" pitchFamily="34" charset="0"/>
              </a:rPr>
              <a:t>α</a:t>
            </a:r>
            <a:r>
              <a:rPr lang="en-US" altLang="zh-CN" dirty="0">
                <a:latin typeface="Calibri" panose="020F0502020204030204" pitchFamily="34" charset="0"/>
              </a:rPr>
              <a:t> = 0.85</a:t>
            </a:r>
            <a:endParaRPr lang="zh-CN" altLang="en-US" dirty="0"/>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2276903224"/>
              </p:ext>
            </p:extLst>
          </p:nvPr>
        </p:nvGraphicFramePr>
        <p:xfrm>
          <a:off x="4807008" y="237004"/>
          <a:ext cx="6235811" cy="5655058"/>
        </p:xfrm>
        <a:graphic>
          <a:graphicData uri="http://schemas.openxmlformats.org/drawingml/2006/table">
            <a:tbl>
              <a:tblPr firstRow="1" bandRow="1">
                <a:tableStyleId>{5C22544A-7EE6-4342-B048-85BDC9FD1C3A}</a:tableStyleId>
              </a:tblPr>
              <a:tblGrid>
                <a:gridCol w="1160020">
                  <a:extLst>
                    <a:ext uri="{9D8B030D-6E8A-4147-A177-3AD203B41FA5}">
                      <a16:colId xmlns:a16="http://schemas.microsoft.com/office/drawing/2014/main" val="742493426"/>
                    </a:ext>
                  </a:extLst>
                </a:gridCol>
                <a:gridCol w="3020320">
                  <a:extLst>
                    <a:ext uri="{9D8B030D-6E8A-4147-A177-3AD203B41FA5}">
                      <a16:colId xmlns:a16="http://schemas.microsoft.com/office/drawing/2014/main" val="200720287"/>
                    </a:ext>
                  </a:extLst>
                </a:gridCol>
                <a:gridCol w="2055471">
                  <a:extLst>
                    <a:ext uri="{9D8B030D-6E8A-4147-A177-3AD203B41FA5}">
                      <a16:colId xmlns:a16="http://schemas.microsoft.com/office/drawing/2014/main" val="3893230753"/>
                    </a:ext>
                  </a:extLst>
                </a:gridCol>
              </a:tblGrid>
              <a:tr h="431619">
                <a:tc>
                  <a:txBody>
                    <a:bodyPr/>
                    <a:lstStyle/>
                    <a:p>
                      <a:pPr algn="ctr"/>
                      <a:r>
                        <a:rPr lang="en-US" altLang="zh-CN" sz="2000" dirty="0"/>
                        <a:t>Route</a:t>
                      </a:r>
                      <a:endParaRPr lang="zh-CN" altLang="en-US" sz="2000" dirty="0"/>
                    </a:p>
                  </a:txBody>
                  <a:tcPr/>
                </a:tc>
                <a:tc>
                  <a:txBody>
                    <a:bodyPr/>
                    <a:lstStyle/>
                    <a:p>
                      <a:pPr algn="ctr"/>
                      <a:r>
                        <a:rPr lang="en-US" altLang="zh-CN" sz="2000" dirty="0"/>
                        <a:t>Runs</a:t>
                      </a:r>
                      <a:r>
                        <a:rPr lang="en-US" altLang="zh-CN" sz="2000" baseline="0" dirty="0"/>
                        <a:t> Linked</a:t>
                      </a:r>
                      <a:endParaRPr lang="zh-CN" altLang="en-US" sz="2000" dirty="0"/>
                    </a:p>
                  </a:txBody>
                  <a:tcPr/>
                </a:tc>
                <a:tc>
                  <a:txBody>
                    <a:bodyPr/>
                    <a:lstStyle/>
                    <a:p>
                      <a:pPr algn="ctr"/>
                      <a:r>
                        <a:rPr lang="en-US" altLang="zh-CN" sz="2000" dirty="0"/>
                        <a:t>Penalty</a:t>
                      </a:r>
                      <a:r>
                        <a:rPr lang="en-US" altLang="zh-CN" sz="2000" baseline="0" dirty="0"/>
                        <a:t> Value</a:t>
                      </a:r>
                      <a:endParaRPr lang="zh-CN" altLang="en-US" sz="2000" dirty="0"/>
                    </a:p>
                  </a:txBody>
                  <a:tcPr/>
                </a:tc>
                <a:extLst>
                  <a:ext uri="{0D108BD9-81ED-4DB2-BD59-A6C34878D82A}">
                    <a16:rowId xmlns:a16="http://schemas.microsoft.com/office/drawing/2014/main" val="174864193"/>
                  </a:ext>
                </a:extLst>
              </a:tr>
              <a:tr h="401803">
                <a:tc>
                  <a:txBody>
                    <a:bodyPr/>
                    <a:lstStyle/>
                    <a:p>
                      <a:pPr algn="ctr"/>
                      <a:r>
                        <a:rPr lang="en-US" altLang="zh-CN" sz="2000" dirty="0"/>
                        <a:t>1</a:t>
                      </a:r>
                      <a:endParaRPr lang="zh-CN" altLang="en-US" sz="2000" dirty="0"/>
                    </a:p>
                  </a:txBody>
                  <a:tcPr/>
                </a:tc>
                <a:tc>
                  <a:txBody>
                    <a:bodyPr/>
                    <a:lstStyle/>
                    <a:p>
                      <a:pPr algn="ctr"/>
                      <a:r>
                        <a:rPr lang="en-US" altLang="zh-CN" sz="2000" dirty="0"/>
                        <a:t>217-241</a:t>
                      </a:r>
                      <a:endParaRPr lang="zh-CN" altLang="en-US" sz="2000" dirty="0"/>
                    </a:p>
                  </a:txBody>
                  <a:tcPr/>
                </a:tc>
                <a:tc>
                  <a:txBody>
                    <a:bodyPr/>
                    <a:lstStyle/>
                    <a:p>
                      <a:pPr algn="ctr"/>
                      <a:r>
                        <a:rPr lang="en-US" altLang="zh-CN" sz="2000" dirty="0"/>
                        <a:t>2.62</a:t>
                      </a:r>
                      <a:endParaRPr lang="zh-CN" altLang="en-US" sz="2000" dirty="0"/>
                    </a:p>
                  </a:txBody>
                  <a:tcPr/>
                </a:tc>
                <a:extLst>
                  <a:ext uri="{0D108BD9-81ED-4DB2-BD59-A6C34878D82A}">
                    <a16:rowId xmlns:a16="http://schemas.microsoft.com/office/drawing/2014/main" val="1609435605"/>
                  </a:ext>
                </a:extLst>
              </a:tr>
              <a:tr h="401803">
                <a:tc>
                  <a:txBody>
                    <a:bodyPr/>
                    <a:lstStyle/>
                    <a:p>
                      <a:pPr algn="ctr"/>
                      <a:r>
                        <a:rPr lang="en-US" altLang="zh-CN" sz="2000" dirty="0"/>
                        <a:t>2</a:t>
                      </a:r>
                      <a:endParaRPr lang="zh-CN" altLang="en-US" sz="2000" dirty="0"/>
                    </a:p>
                  </a:txBody>
                  <a:tcPr/>
                </a:tc>
                <a:tc>
                  <a:txBody>
                    <a:bodyPr/>
                    <a:lstStyle/>
                    <a:p>
                      <a:pPr algn="ctr"/>
                      <a:r>
                        <a:rPr lang="en-US" altLang="zh-CN" sz="2000" dirty="0"/>
                        <a:t>31-320</a:t>
                      </a:r>
                      <a:endParaRPr lang="zh-CN" altLang="en-US" sz="2000" dirty="0"/>
                    </a:p>
                  </a:txBody>
                  <a:tcPr/>
                </a:tc>
                <a:tc>
                  <a:txBody>
                    <a:bodyPr/>
                    <a:lstStyle/>
                    <a:p>
                      <a:pPr algn="ctr"/>
                      <a:r>
                        <a:rPr lang="en-US" altLang="zh-CN" sz="2000" dirty="0"/>
                        <a:t>4.15627</a:t>
                      </a:r>
                      <a:endParaRPr lang="zh-CN" altLang="en-US" sz="2000" dirty="0"/>
                    </a:p>
                  </a:txBody>
                  <a:tcPr/>
                </a:tc>
                <a:extLst>
                  <a:ext uri="{0D108BD9-81ED-4DB2-BD59-A6C34878D82A}">
                    <a16:rowId xmlns:a16="http://schemas.microsoft.com/office/drawing/2014/main" val="1752264032"/>
                  </a:ext>
                </a:extLst>
              </a:tr>
              <a:tr h="401803">
                <a:tc>
                  <a:txBody>
                    <a:bodyPr/>
                    <a:lstStyle/>
                    <a:p>
                      <a:pPr algn="ctr"/>
                      <a:r>
                        <a:rPr lang="en-US" altLang="zh-CN" sz="2000" dirty="0"/>
                        <a:t>3</a:t>
                      </a:r>
                    </a:p>
                  </a:txBody>
                  <a:tcPr/>
                </a:tc>
                <a:tc>
                  <a:txBody>
                    <a:bodyPr/>
                    <a:lstStyle/>
                    <a:p>
                      <a:pPr algn="ctr"/>
                      <a:r>
                        <a:rPr lang="en-US" altLang="zh-CN" sz="2000" dirty="0"/>
                        <a:t>50-240</a:t>
                      </a:r>
                    </a:p>
                  </a:txBody>
                  <a:tcPr/>
                </a:tc>
                <a:tc>
                  <a:txBody>
                    <a:bodyPr/>
                    <a:lstStyle/>
                    <a:p>
                      <a:pPr algn="ctr"/>
                      <a:r>
                        <a:rPr lang="en-US" altLang="zh-CN" sz="2000" dirty="0"/>
                        <a:t>5.22</a:t>
                      </a:r>
                      <a:endParaRPr lang="zh-CN" altLang="en-US" sz="2000" dirty="0"/>
                    </a:p>
                  </a:txBody>
                  <a:tcPr/>
                </a:tc>
                <a:extLst>
                  <a:ext uri="{0D108BD9-81ED-4DB2-BD59-A6C34878D82A}">
                    <a16:rowId xmlns:a16="http://schemas.microsoft.com/office/drawing/2014/main" val="2880527098"/>
                  </a:ext>
                </a:extLst>
              </a:tr>
              <a:tr h="401803">
                <a:tc>
                  <a:txBody>
                    <a:bodyPr/>
                    <a:lstStyle/>
                    <a:p>
                      <a:pPr algn="ctr"/>
                      <a:r>
                        <a:rPr lang="en-US" altLang="zh-CN" sz="2000" dirty="0"/>
                        <a:t>4</a:t>
                      </a:r>
                      <a:endParaRPr lang="zh-CN" altLang="en-US" sz="2000" dirty="0"/>
                    </a:p>
                  </a:txBody>
                  <a:tcPr/>
                </a:tc>
                <a:tc>
                  <a:txBody>
                    <a:bodyPr/>
                    <a:lstStyle/>
                    <a:p>
                      <a:pPr algn="ctr"/>
                      <a:r>
                        <a:rPr lang="en-US" altLang="zh-CN" sz="2000" dirty="0"/>
                        <a:t>241-337</a:t>
                      </a:r>
                      <a:endParaRPr lang="zh-CN" altLang="en-US" sz="2000" dirty="0"/>
                    </a:p>
                  </a:txBody>
                  <a:tcPr/>
                </a:tc>
                <a:tc>
                  <a:txBody>
                    <a:bodyPr/>
                    <a:lstStyle/>
                    <a:p>
                      <a:pPr algn="ctr"/>
                      <a:r>
                        <a:rPr lang="en-US" altLang="zh-CN" sz="2000" dirty="0"/>
                        <a:t>6.70645</a:t>
                      </a:r>
                      <a:endParaRPr lang="zh-CN" altLang="en-US" sz="2000" dirty="0"/>
                    </a:p>
                  </a:txBody>
                  <a:tcPr/>
                </a:tc>
                <a:extLst>
                  <a:ext uri="{0D108BD9-81ED-4DB2-BD59-A6C34878D82A}">
                    <a16:rowId xmlns:a16="http://schemas.microsoft.com/office/drawing/2014/main" val="1005026606"/>
                  </a:ext>
                </a:extLst>
              </a:tr>
              <a:tr h="401803">
                <a:tc>
                  <a:txBody>
                    <a:bodyPr/>
                    <a:lstStyle/>
                    <a:p>
                      <a:pPr algn="ctr"/>
                      <a:r>
                        <a:rPr lang="en-US" altLang="zh-CN" sz="2000" dirty="0"/>
                        <a:t>5</a:t>
                      </a:r>
                      <a:endParaRPr lang="zh-CN" altLang="en-US" sz="2000" dirty="0"/>
                    </a:p>
                  </a:txBody>
                  <a:tcPr/>
                </a:tc>
                <a:tc>
                  <a:txBody>
                    <a:bodyPr/>
                    <a:lstStyle/>
                    <a:p>
                      <a:pPr algn="ctr"/>
                      <a:r>
                        <a:rPr lang="en-US" altLang="zh-CN" sz="2000" dirty="0"/>
                        <a:t>285-102</a:t>
                      </a:r>
                      <a:endParaRPr lang="zh-CN" altLang="en-US" sz="2000" dirty="0"/>
                    </a:p>
                  </a:txBody>
                  <a:tcPr/>
                </a:tc>
                <a:tc>
                  <a:txBody>
                    <a:bodyPr/>
                    <a:lstStyle/>
                    <a:p>
                      <a:pPr algn="ctr"/>
                      <a:r>
                        <a:rPr lang="en-US" altLang="zh-CN" sz="2000" dirty="0"/>
                        <a:t>7.13745</a:t>
                      </a:r>
                      <a:endParaRPr lang="zh-CN" altLang="en-US" sz="2000" dirty="0"/>
                    </a:p>
                  </a:txBody>
                  <a:tcPr/>
                </a:tc>
                <a:extLst>
                  <a:ext uri="{0D108BD9-81ED-4DB2-BD59-A6C34878D82A}">
                    <a16:rowId xmlns:a16="http://schemas.microsoft.com/office/drawing/2014/main" val="2622821327"/>
                  </a:ext>
                </a:extLst>
              </a:tr>
              <a:tr h="401803">
                <a:tc>
                  <a:txBody>
                    <a:bodyPr/>
                    <a:lstStyle/>
                    <a:p>
                      <a:pPr algn="ctr"/>
                      <a:r>
                        <a:rPr lang="en-US" altLang="zh-CN" sz="2000" dirty="0"/>
                        <a:t>6</a:t>
                      </a:r>
                      <a:endParaRPr lang="zh-CN" altLang="en-US" sz="2000" dirty="0"/>
                    </a:p>
                  </a:txBody>
                  <a:tcPr/>
                </a:tc>
                <a:tc>
                  <a:txBody>
                    <a:bodyPr/>
                    <a:lstStyle/>
                    <a:p>
                      <a:pPr algn="ctr"/>
                      <a:r>
                        <a:rPr lang="en-US" altLang="zh-CN" sz="2000" dirty="0"/>
                        <a:t>252-145</a:t>
                      </a:r>
                      <a:endParaRPr lang="zh-CN" altLang="en-US" sz="2000" dirty="0"/>
                    </a:p>
                  </a:txBody>
                  <a:tcPr/>
                </a:tc>
                <a:tc>
                  <a:txBody>
                    <a:bodyPr/>
                    <a:lstStyle/>
                    <a:p>
                      <a:pPr algn="ctr"/>
                      <a:r>
                        <a:rPr lang="en-US" altLang="zh-CN" sz="2000" dirty="0"/>
                        <a:t>7.24227</a:t>
                      </a:r>
                      <a:endParaRPr lang="zh-CN" altLang="en-US" sz="2000" dirty="0"/>
                    </a:p>
                  </a:txBody>
                  <a:tcPr/>
                </a:tc>
                <a:extLst>
                  <a:ext uri="{0D108BD9-81ED-4DB2-BD59-A6C34878D82A}">
                    <a16:rowId xmlns:a16="http://schemas.microsoft.com/office/drawing/2014/main" val="4061793147"/>
                  </a:ext>
                </a:extLst>
              </a:tr>
              <a:tr h="401803">
                <a:tc>
                  <a:txBody>
                    <a:bodyPr/>
                    <a:lstStyle/>
                    <a:p>
                      <a:pPr algn="ctr"/>
                      <a:r>
                        <a:rPr lang="en-US" altLang="zh-CN" sz="2000" dirty="0"/>
                        <a:t>7</a:t>
                      </a:r>
                      <a:endParaRPr lang="zh-CN" altLang="en-US" sz="2000" dirty="0"/>
                    </a:p>
                  </a:txBody>
                  <a:tcPr/>
                </a:tc>
                <a:tc>
                  <a:txBody>
                    <a:bodyPr/>
                    <a:lstStyle/>
                    <a:p>
                      <a:pPr algn="ctr"/>
                      <a:r>
                        <a:rPr lang="en-US" altLang="zh-CN" sz="2000" dirty="0"/>
                        <a:t>273-123</a:t>
                      </a:r>
                      <a:endParaRPr lang="zh-CN" altLang="en-US" sz="2000" dirty="0"/>
                    </a:p>
                  </a:txBody>
                  <a:tcPr/>
                </a:tc>
                <a:tc>
                  <a:txBody>
                    <a:bodyPr/>
                    <a:lstStyle/>
                    <a:p>
                      <a:pPr algn="ctr"/>
                      <a:r>
                        <a:rPr lang="en-US" altLang="zh-CN" sz="2000" dirty="0"/>
                        <a:t>7.48273</a:t>
                      </a:r>
                      <a:endParaRPr lang="zh-CN" altLang="en-US" sz="2000" dirty="0"/>
                    </a:p>
                  </a:txBody>
                  <a:tcPr/>
                </a:tc>
                <a:extLst>
                  <a:ext uri="{0D108BD9-81ED-4DB2-BD59-A6C34878D82A}">
                    <a16:rowId xmlns:a16="http://schemas.microsoft.com/office/drawing/2014/main" val="1622537365"/>
                  </a:ext>
                </a:extLst>
              </a:tr>
              <a:tr h="401803">
                <a:tc>
                  <a:txBody>
                    <a:bodyPr/>
                    <a:lstStyle/>
                    <a:p>
                      <a:pPr algn="ctr"/>
                      <a:r>
                        <a:rPr lang="en-US" altLang="zh-CN" sz="2000" dirty="0"/>
                        <a:t>8</a:t>
                      </a:r>
                      <a:endParaRPr lang="zh-CN" altLang="en-US" sz="2000" dirty="0"/>
                    </a:p>
                  </a:txBody>
                  <a:tcPr/>
                </a:tc>
                <a:tc>
                  <a:txBody>
                    <a:bodyPr/>
                    <a:lstStyle/>
                    <a:p>
                      <a:pPr algn="ctr"/>
                      <a:r>
                        <a:rPr lang="en-US" altLang="zh-CN" sz="2000" dirty="0"/>
                        <a:t>123-72</a:t>
                      </a:r>
                      <a:endParaRPr lang="zh-CN" altLang="en-US" sz="2000" dirty="0"/>
                    </a:p>
                  </a:txBody>
                  <a:tcPr/>
                </a:tc>
                <a:tc>
                  <a:txBody>
                    <a:bodyPr/>
                    <a:lstStyle/>
                    <a:p>
                      <a:pPr algn="ctr"/>
                      <a:r>
                        <a:rPr lang="en-US" altLang="zh-CN" sz="2000" dirty="0"/>
                        <a:t>8.73182</a:t>
                      </a:r>
                      <a:endParaRPr lang="zh-CN" altLang="en-US" sz="2000" dirty="0"/>
                    </a:p>
                  </a:txBody>
                  <a:tcPr/>
                </a:tc>
                <a:extLst>
                  <a:ext uri="{0D108BD9-81ED-4DB2-BD59-A6C34878D82A}">
                    <a16:rowId xmlns:a16="http://schemas.microsoft.com/office/drawing/2014/main" val="497646242"/>
                  </a:ext>
                </a:extLst>
              </a:tr>
              <a:tr h="401803">
                <a:tc>
                  <a:txBody>
                    <a:bodyPr/>
                    <a:lstStyle/>
                    <a:p>
                      <a:pPr algn="ctr"/>
                      <a:r>
                        <a:rPr lang="en-US" altLang="zh-CN" sz="2000" dirty="0"/>
                        <a:t>9</a:t>
                      </a:r>
                      <a:endParaRPr lang="zh-CN" altLang="en-US" sz="2000" dirty="0"/>
                    </a:p>
                  </a:txBody>
                  <a:tcPr/>
                </a:tc>
                <a:tc>
                  <a:txBody>
                    <a:bodyPr/>
                    <a:lstStyle/>
                    <a:p>
                      <a:pPr algn="ctr"/>
                      <a:r>
                        <a:rPr lang="en-US" altLang="zh-CN" sz="2000" dirty="0"/>
                        <a:t>198-235</a:t>
                      </a:r>
                      <a:endParaRPr lang="zh-CN" altLang="en-US" sz="2000" dirty="0"/>
                    </a:p>
                  </a:txBody>
                  <a:tcPr/>
                </a:tc>
                <a:tc>
                  <a:txBody>
                    <a:bodyPr/>
                    <a:lstStyle/>
                    <a:p>
                      <a:pPr algn="ctr"/>
                      <a:r>
                        <a:rPr lang="en-US" altLang="zh-CN" sz="2000" dirty="0"/>
                        <a:t>9.67282</a:t>
                      </a:r>
                      <a:endParaRPr lang="zh-CN" altLang="en-US" sz="2000" dirty="0"/>
                    </a:p>
                  </a:txBody>
                  <a:tcPr/>
                </a:tc>
                <a:extLst>
                  <a:ext uri="{0D108BD9-81ED-4DB2-BD59-A6C34878D82A}">
                    <a16:rowId xmlns:a16="http://schemas.microsoft.com/office/drawing/2014/main" val="257503740"/>
                  </a:ext>
                </a:extLst>
              </a:tr>
              <a:tr h="401803">
                <a:tc>
                  <a:txBody>
                    <a:bodyPr/>
                    <a:lstStyle/>
                    <a:p>
                      <a:pPr algn="ctr"/>
                      <a:r>
                        <a:rPr lang="en-US" altLang="zh-CN" sz="2000" dirty="0"/>
                        <a:t>10</a:t>
                      </a:r>
                      <a:endParaRPr lang="zh-CN" altLang="en-US" sz="2000" dirty="0"/>
                    </a:p>
                  </a:txBody>
                  <a:tcPr/>
                </a:tc>
                <a:tc>
                  <a:txBody>
                    <a:bodyPr/>
                    <a:lstStyle/>
                    <a:p>
                      <a:pPr algn="ctr"/>
                      <a:r>
                        <a:rPr lang="en-US" altLang="zh-CN" sz="2000" dirty="0"/>
                        <a:t>170-217</a:t>
                      </a:r>
                      <a:endParaRPr lang="zh-CN" altLang="en-US" sz="2000" dirty="0"/>
                    </a:p>
                  </a:txBody>
                  <a:tcPr/>
                </a:tc>
                <a:tc>
                  <a:txBody>
                    <a:bodyPr/>
                    <a:lstStyle/>
                    <a:p>
                      <a:pPr algn="ctr"/>
                      <a:r>
                        <a:rPr lang="en-US" altLang="zh-CN" sz="2000" dirty="0"/>
                        <a:t>11.6414</a:t>
                      </a:r>
                      <a:endParaRPr lang="zh-CN" altLang="en-US" sz="2000" dirty="0"/>
                    </a:p>
                  </a:txBody>
                  <a:tcPr/>
                </a:tc>
                <a:extLst>
                  <a:ext uri="{0D108BD9-81ED-4DB2-BD59-A6C34878D82A}">
                    <a16:rowId xmlns:a16="http://schemas.microsoft.com/office/drawing/2014/main" val="1614053864"/>
                  </a:ext>
                </a:extLst>
              </a:tr>
              <a:tr h="401803">
                <a:tc>
                  <a:txBody>
                    <a:bodyPr/>
                    <a:lstStyle/>
                    <a:p>
                      <a:pPr algn="ctr"/>
                      <a:r>
                        <a:rPr lang="en-US" altLang="zh-CN" sz="2000" dirty="0"/>
                        <a:t>11</a:t>
                      </a:r>
                      <a:endParaRPr lang="zh-CN" altLang="en-US" sz="2000" dirty="0"/>
                    </a:p>
                  </a:txBody>
                  <a:tcPr/>
                </a:tc>
                <a:tc>
                  <a:txBody>
                    <a:bodyPr/>
                    <a:lstStyle/>
                    <a:p>
                      <a:pPr algn="ctr"/>
                      <a:r>
                        <a:rPr lang="en-US" altLang="zh-CN" sz="2000" dirty="0"/>
                        <a:t>261-31</a:t>
                      </a:r>
                      <a:endParaRPr lang="zh-CN" altLang="en-US" sz="2000" dirty="0"/>
                    </a:p>
                  </a:txBody>
                  <a:tcPr/>
                </a:tc>
                <a:tc>
                  <a:txBody>
                    <a:bodyPr/>
                    <a:lstStyle/>
                    <a:p>
                      <a:pPr algn="ctr"/>
                      <a:r>
                        <a:rPr lang="en-US" altLang="zh-CN" sz="2000" dirty="0"/>
                        <a:t>20.6314</a:t>
                      </a:r>
                      <a:endParaRPr lang="zh-CN" altLang="en-US" sz="2000" dirty="0"/>
                    </a:p>
                  </a:txBody>
                  <a:tcPr/>
                </a:tc>
                <a:extLst>
                  <a:ext uri="{0D108BD9-81ED-4DB2-BD59-A6C34878D82A}">
                    <a16:rowId xmlns:a16="http://schemas.microsoft.com/office/drawing/2014/main" val="1850937488"/>
                  </a:ext>
                </a:extLst>
              </a:tr>
              <a:tr h="401803">
                <a:tc>
                  <a:txBody>
                    <a:bodyPr/>
                    <a:lstStyle/>
                    <a:p>
                      <a:pPr algn="ctr"/>
                      <a:r>
                        <a:rPr lang="en-US" altLang="zh-CN" sz="2000" dirty="0"/>
                        <a:t>12</a:t>
                      </a:r>
                      <a:endParaRPr lang="zh-CN" altLang="en-US" sz="2000" dirty="0"/>
                    </a:p>
                  </a:txBody>
                  <a:tcPr/>
                </a:tc>
                <a:tc>
                  <a:txBody>
                    <a:bodyPr/>
                    <a:lstStyle/>
                    <a:p>
                      <a:pPr algn="ctr"/>
                      <a:r>
                        <a:rPr lang="en-US" altLang="zh-CN" sz="2000" dirty="0"/>
                        <a:t>145-142</a:t>
                      </a:r>
                      <a:endParaRPr lang="zh-CN" altLang="en-US" sz="2000" dirty="0"/>
                    </a:p>
                  </a:txBody>
                  <a:tcPr/>
                </a:tc>
                <a:tc>
                  <a:txBody>
                    <a:bodyPr/>
                    <a:lstStyle/>
                    <a:p>
                      <a:pPr algn="ctr"/>
                      <a:r>
                        <a:rPr lang="en-US" altLang="zh-CN" sz="2000" dirty="0"/>
                        <a:t>23.1855</a:t>
                      </a:r>
                      <a:endParaRPr lang="zh-CN" altLang="en-US" sz="2000" dirty="0"/>
                    </a:p>
                  </a:txBody>
                  <a:tcPr/>
                </a:tc>
                <a:extLst>
                  <a:ext uri="{0D108BD9-81ED-4DB2-BD59-A6C34878D82A}">
                    <a16:rowId xmlns:a16="http://schemas.microsoft.com/office/drawing/2014/main" val="3845933806"/>
                  </a:ext>
                </a:extLst>
              </a:tr>
              <a:tr h="401803">
                <a:tc>
                  <a:txBody>
                    <a:bodyPr/>
                    <a:lstStyle/>
                    <a:p>
                      <a:pPr algn="ctr"/>
                      <a:r>
                        <a:rPr lang="en-US" altLang="zh-CN" sz="2000" dirty="0"/>
                        <a:t>13</a:t>
                      </a:r>
                      <a:endParaRPr lang="zh-CN" altLang="en-US" sz="2000" dirty="0"/>
                    </a:p>
                  </a:txBody>
                  <a:tcPr/>
                </a:tc>
                <a:tc>
                  <a:txBody>
                    <a:bodyPr/>
                    <a:lstStyle/>
                    <a:p>
                      <a:pPr algn="ctr"/>
                      <a:r>
                        <a:rPr lang="en-US" altLang="zh-CN" sz="2000" dirty="0"/>
                        <a:t>264-285</a:t>
                      </a:r>
                      <a:endParaRPr lang="zh-CN" altLang="en-US" sz="2000" dirty="0"/>
                    </a:p>
                  </a:txBody>
                  <a:tcPr/>
                </a:tc>
                <a:tc>
                  <a:txBody>
                    <a:bodyPr/>
                    <a:lstStyle/>
                    <a:p>
                      <a:pPr algn="ctr"/>
                      <a:r>
                        <a:rPr lang="en-US" altLang="zh-CN" sz="2000" dirty="0"/>
                        <a:t>30.3879</a:t>
                      </a:r>
                      <a:endParaRPr lang="zh-CN" altLang="en-US" sz="2000" dirty="0"/>
                    </a:p>
                  </a:txBody>
                  <a:tcPr/>
                </a:tc>
                <a:extLst>
                  <a:ext uri="{0D108BD9-81ED-4DB2-BD59-A6C34878D82A}">
                    <a16:rowId xmlns:a16="http://schemas.microsoft.com/office/drawing/2014/main" val="3055626746"/>
                  </a:ext>
                </a:extLst>
              </a:tr>
            </a:tbl>
          </a:graphicData>
        </a:graphic>
      </p:graphicFrame>
    </p:spTree>
    <p:extLst>
      <p:ext uri="{BB962C8B-B14F-4D97-AF65-F5344CB8AC3E}">
        <p14:creationId xmlns:p14="http://schemas.microsoft.com/office/powerpoint/2010/main" val="3392713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627" y="94033"/>
            <a:ext cx="11221278" cy="1563813"/>
          </a:xfrm>
        </p:spPr>
        <p:txBody>
          <a:bodyPr/>
          <a:lstStyle/>
          <a:p>
            <a:r>
              <a:rPr lang="en-US" altLang="zh-CN" dirty="0"/>
              <a:t>Optimal Method for Scheduling Portion of Greedy Heuristic</a:t>
            </a:r>
            <a:endParaRPr lang="zh-CN" altLang="en-US" dirty="0"/>
          </a:p>
        </p:txBody>
      </p:sp>
      <mc:AlternateContent xmlns:mc="http://schemas.openxmlformats.org/markup-compatibility/2006" xmlns:a14="http://schemas.microsoft.com/office/drawing/2010/main">
        <mc:Choice Requires="a14">
          <p:sp>
            <p:nvSpPr>
              <p:cNvPr id="3" name="TextBox 2"/>
              <p:cNvSpPr txBox="1"/>
              <p:nvPr/>
            </p:nvSpPr>
            <p:spPr>
              <a:xfrm>
                <a:off x="556591" y="2933598"/>
                <a:ext cx="10969882" cy="3108543"/>
              </a:xfrm>
              <a:prstGeom prst="rect">
                <a:avLst/>
              </a:prstGeom>
              <a:noFill/>
            </p:spPr>
            <p:txBody>
              <a:bodyPr wrap="square" rtlCol="0">
                <a:spAutoFit/>
              </a:bodyPr>
              <a:lstStyle/>
              <a:p>
                <a:endParaRPr lang="en-US" altLang="zh-CN" sz="3600" dirty="0"/>
              </a:p>
              <a:p>
                <a:r>
                  <a:rPr lang="en-US" altLang="zh-CN" sz="3600" dirty="0"/>
                  <a:t>subject to:</a:t>
                </a:r>
              </a:p>
              <a:p>
                <a:endParaRPr lang="en-US" altLang="zh-CN" sz="1600" dirty="0"/>
              </a:p>
              <a:p>
                <a:r>
                  <a:rPr lang="en-US" altLang="zh-CN" sz="3600" dirty="0"/>
                  <a:t>S</a:t>
                </a:r>
                <a:r>
                  <a:rPr lang="en-US" altLang="zh-CN" sz="3600" i="1" baseline="-25000" dirty="0"/>
                  <a:t>i</a:t>
                </a:r>
                <a:r>
                  <a:rPr lang="en-US" altLang="zh-CN" sz="3600" dirty="0"/>
                  <a:t> </a:t>
                </a:r>
                <a14:m>
                  <m:oMath xmlns:m="http://schemas.openxmlformats.org/officeDocument/2006/math">
                    <m:r>
                      <a:rPr lang="en-US" altLang="zh-CN" sz="3600" i="1" smtClean="0">
                        <a:latin typeface="Cambria Math" panose="02040503050406030204" pitchFamily="18" charset="0"/>
                        <a:ea typeface="Cambria Math" panose="02040503050406030204" pitchFamily="18" charset="0"/>
                      </a:rPr>
                      <m:t>≥</m:t>
                    </m:r>
                  </m:oMath>
                </a14:m>
                <a:r>
                  <a:rPr lang="en-US" altLang="zh-CN" sz="3600" dirty="0"/>
                  <a:t> B</a:t>
                </a:r>
                <a:r>
                  <a:rPr lang="en-US" altLang="zh-CN" sz="3600" i="1" baseline="-25000" dirty="0"/>
                  <a:t>i</a:t>
                </a:r>
                <a:r>
                  <a:rPr lang="en-US" altLang="zh-CN" sz="3600" dirty="0"/>
                  <a:t> – W</a:t>
                </a:r>
                <a:r>
                  <a:rPr lang="en-US" altLang="zh-CN" sz="3600" i="1" baseline="-25000" dirty="0"/>
                  <a:t>i</a:t>
                </a:r>
                <a:r>
                  <a:rPr lang="en-US" altLang="zh-CN" sz="3600" dirty="0"/>
                  <a:t> – </a:t>
                </a:r>
                <a:r>
                  <a:rPr lang="en-US" altLang="zh-CN" sz="3600" dirty="0" err="1"/>
                  <a:t>R</a:t>
                </a:r>
                <a:r>
                  <a:rPr lang="en-US" altLang="zh-CN" sz="3600" i="1" baseline="-25000" dirty="0" err="1"/>
                  <a:t>i</a:t>
                </a:r>
                <a:r>
                  <a:rPr lang="en-US" altLang="zh-CN" sz="3600" dirty="0"/>
                  <a:t>    </a:t>
                </a:r>
                <a:r>
                  <a:rPr lang="en-US" altLang="zh-CN" sz="3600" i="1" dirty="0" err="1"/>
                  <a:t>i</a:t>
                </a:r>
                <a:r>
                  <a:rPr lang="en-US" altLang="zh-CN" sz="3600" i="1" dirty="0"/>
                  <a:t> </a:t>
                </a:r>
                <a:r>
                  <a:rPr lang="en-US" altLang="zh-CN" sz="3600" dirty="0"/>
                  <a:t>= 1,…,n</a:t>
                </a:r>
              </a:p>
              <a:p>
                <a:r>
                  <a:rPr lang="en-US" altLang="zh-CN" sz="3600" dirty="0"/>
                  <a:t>S</a:t>
                </a:r>
                <a:r>
                  <a:rPr lang="en-US" altLang="zh-CN" sz="3600" i="1" baseline="-25000" dirty="0"/>
                  <a:t>i</a:t>
                </a:r>
                <a:r>
                  <a:rPr lang="en-US" altLang="zh-CN" sz="3600" dirty="0"/>
                  <a:t> </a:t>
                </a:r>
                <a14:m>
                  <m:oMath xmlns:m="http://schemas.openxmlformats.org/officeDocument/2006/math">
                    <m:r>
                      <a:rPr lang="en-US" altLang="zh-CN" sz="3600" i="1" smtClean="0">
                        <a:latin typeface="Cambria Math" panose="02040503050406030204" pitchFamily="18" charset="0"/>
                        <a:ea typeface="Cambria Math" panose="02040503050406030204" pitchFamily="18" charset="0"/>
                      </a:rPr>
                      <m:t>≤</m:t>
                    </m:r>
                  </m:oMath>
                </a14:m>
                <a:r>
                  <a:rPr lang="en-US" altLang="zh-CN" sz="3600" dirty="0"/>
                  <a:t> B</a:t>
                </a:r>
                <a:r>
                  <a:rPr lang="en-US" altLang="zh-CN" sz="3600" i="1" baseline="-25000" dirty="0"/>
                  <a:t>i</a:t>
                </a:r>
                <a:r>
                  <a:rPr lang="en-US" altLang="zh-CN" sz="3600" dirty="0"/>
                  <a:t> – </a:t>
                </a:r>
                <a:r>
                  <a:rPr lang="en-US" altLang="zh-CN" sz="3600" dirty="0" err="1"/>
                  <a:t>R</a:t>
                </a:r>
                <a:r>
                  <a:rPr lang="en-US" altLang="zh-CN" sz="3600" i="1" baseline="-25000" dirty="0" err="1"/>
                  <a:t>i</a:t>
                </a:r>
                <a:r>
                  <a:rPr lang="en-US" altLang="zh-CN" sz="3600" dirty="0"/>
                  <a:t>    </a:t>
                </a:r>
                <a:r>
                  <a:rPr lang="en-US" altLang="zh-CN" sz="3600" i="1" dirty="0" err="1"/>
                  <a:t>i</a:t>
                </a:r>
                <a:r>
                  <a:rPr lang="en-US" altLang="zh-CN" sz="3600" dirty="0"/>
                  <a:t> = 1,…,n</a:t>
                </a:r>
              </a:p>
              <a:p>
                <a:r>
                  <a:rPr lang="en-US" altLang="zh-CN" sz="3600" dirty="0"/>
                  <a:t>S</a:t>
                </a:r>
                <a:r>
                  <a:rPr lang="en-US" altLang="zh-CN" sz="3600" i="1" baseline="-25000" dirty="0"/>
                  <a:t>i</a:t>
                </a:r>
                <a:r>
                  <a:rPr lang="en-US" altLang="zh-CN" sz="3600" dirty="0"/>
                  <a:t> + </a:t>
                </a:r>
                <a:r>
                  <a:rPr lang="en-US" altLang="zh-CN" sz="3600" dirty="0" err="1"/>
                  <a:t>R</a:t>
                </a:r>
                <a:r>
                  <a:rPr lang="en-US" altLang="zh-CN" sz="3600" i="1" baseline="-25000" dirty="0" err="1"/>
                  <a:t>i</a:t>
                </a:r>
                <a:r>
                  <a:rPr lang="en-US" altLang="zh-CN" sz="3600" dirty="0"/>
                  <a:t> + </a:t>
                </a:r>
                <a:r>
                  <a:rPr lang="en-US" altLang="zh-CN" sz="3600" dirty="0" err="1"/>
                  <a:t>T</a:t>
                </a:r>
                <a:r>
                  <a:rPr lang="en-US" altLang="zh-CN" sz="3600" i="1" baseline="-25000" dirty="0" err="1"/>
                  <a:t>ij</a:t>
                </a:r>
                <a:r>
                  <a:rPr lang="en-US" altLang="zh-CN" sz="3600" dirty="0"/>
                  <a:t> </a:t>
                </a:r>
                <a14:m>
                  <m:oMath xmlns:m="http://schemas.openxmlformats.org/officeDocument/2006/math">
                    <m:r>
                      <a:rPr lang="en-US" altLang="zh-CN" sz="3600" i="1" smtClean="0">
                        <a:latin typeface="Cambria Math" panose="02040503050406030204" pitchFamily="18" charset="0"/>
                        <a:ea typeface="Cambria Math" panose="02040503050406030204" pitchFamily="18" charset="0"/>
                      </a:rPr>
                      <m:t>≤</m:t>
                    </m:r>
                  </m:oMath>
                </a14:m>
                <a:r>
                  <a:rPr lang="en-US" altLang="zh-CN" sz="3600" dirty="0"/>
                  <a:t> </a:t>
                </a:r>
                <a:r>
                  <a:rPr lang="en-US" altLang="zh-CN" sz="3600" dirty="0" err="1"/>
                  <a:t>S</a:t>
                </a:r>
                <a:r>
                  <a:rPr lang="en-US" altLang="zh-CN" sz="3600" i="1" baseline="-25000" dirty="0" err="1"/>
                  <a:t>j</a:t>
                </a:r>
                <a:r>
                  <a:rPr lang="en-US" altLang="zh-CN" sz="3600" i="1" dirty="0"/>
                  <a:t> </a:t>
                </a:r>
                <a:r>
                  <a:rPr lang="en-US" altLang="zh-CN" sz="3600" dirty="0"/>
                  <a:t>+ (1 – </a:t>
                </a:r>
                <a:r>
                  <a:rPr lang="en-US" altLang="zh-CN" sz="3600" dirty="0" err="1"/>
                  <a:t>X</a:t>
                </a:r>
                <a:r>
                  <a:rPr lang="en-US" altLang="zh-CN" sz="3600" i="1" baseline="-25000" dirty="0" err="1"/>
                  <a:t>ij</a:t>
                </a:r>
                <a:r>
                  <a:rPr lang="en-US" altLang="zh-CN" sz="3600" dirty="0"/>
                  <a:t>)M   </a:t>
                </a:r>
                <a:r>
                  <a:rPr lang="en-US" altLang="zh-CN" sz="3600" i="1" dirty="0" err="1"/>
                  <a:t>i</a:t>
                </a:r>
                <a:r>
                  <a:rPr lang="en-US" altLang="zh-CN" sz="3600" dirty="0"/>
                  <a:t> = 1,…,n, </a:t>
                </a:r>
                <a:r>
                  <a:rPr lang="en-US" altLang="zh-CN" sz="3600" i="1" dirty="0"/>
                  <a:t>j</a:t>
                </a:r>
                <a:r>
                  <a:rPr lang="en-US" altLang="zh-CN" sz="3600" dirty="0"/>
                  <a:t> = 1,...,n and </a:t>
                </a:r>
                <a:r>
                  <a:rPr lang="en-US" altLang="zh-CN" sz="3600" i="1" dirty="0" err="1"/>
                  <a:t>i</a:t>
                </a:r>
                <a:r>
                  <a:rPr lang="en-US" altLang="zh-CN" sz="3600" dirty="0"/>
                  <a:t> </a:t>
                </a:r>
                <a14:m>
                  <m:oMath xmlns:m="http://schemas.openxmlformats.org/officeDocument/2006/math">
                    <m:r>
                      <a:rPr lang="en-US" altLang="zh-CN" sz="3600" i="1" smtClean="0">
                        <a:latin typeface="Cambria Math" panose="02040503050406030204" pitchFamily="18" charset="0"/>
                        <a:ea typeface="Cambria Math" panose="02040503050406030204" pitchFamily="18" charset="0"/>
                      </a:rPr>
                      <m:t>≠</m:t>
                    </m:r>
                    <m:r>
                      <a:rPr lang="en-US" altLang="zh-CN" sz="3600" b="0" i="1" smtClean="0">
                        <a:latin typeface="Cambria Math" panose="02040503050406030204" pitchFamily="18" charset="0"/>
                        <a:ea typeface="Cambria Math" panose="02040503050406030204" pitchFamily="18" charset="0"/>
                      </a:rPr>
                      <m:t>𝑗</m:t>
                    </m:r>
                  </m:oMath>
                </a14:m>
                <a:endParaRPr lang="zh-CN" altLang="en-US" sz="3600" dirty="0"/>
              </a:p>
            </p:txBody>
          </p:sp>
        </mc:Choice>
        <mc:Fallback xmlns="">
          <p:sp>
            <p:nvSpPr>
              <p:cNvPr id="3" name="TextBox 2"/>
              <p:cNvSpPr txBox="1">
                <a:spLocks noRot="1" noChangeAspect="1" noMove="1" noResize="1" noEditPoints="1" noAdjustHandles="1" noChangeArrowheads="1" noChangeShapeType="1" noTextEdit="1"/>
              </p:cNvSpPr>
              <p:nvPr/>
            </p:nvSpPr>
            <p:spPr>
              <a:xfrm>
                <a:off x="556591" y="2933598"/>
                <a:ext cx="10969882" cy="3108543"/>
              </a:xfrm>
              <a:prstGeom prst="rect">
                <a:avLst/>
              </a:prstGeom>
              <a:blipFill rotWithShape="0">
                <a:blip r:embed="rId3"/>
                <a:stretch>
                  <a:fillRect l="-1667" b="-6471"/>
                </a:stretch>
              </a:blipFill>
            </p:spPr>
            <p:txBody>
              <a:bodyPr/>
              <a:lstStyle/>
              <a:p>
                <a:r>
                  <a:rPr lang="en-US">
                    <a:noFill/>
                  </a:rPr>
                  <a:t> </a:t>
                </a:r>
              </a:p>
            </p:txBody>
          </p:sp>
        </mc:Fallback>
      </mc:AlternateContent>
      <p:sp>
        <p:nvSpPr>
          <p:cNvPr id="10" name="TextBox 9"/>
          <p:cNvSpPr txBox="1"/>
          <p:nvPr/>
        </p:nvSpPr>
        <p:spPr>
          <a:xfrm>
            <a:off x="556591" y="2176991"/>
            <a:ext cx="3379305" cy="646331"/>
          </a:xfrm>
          <a:prstGeom prst="rect">
            <a:avLst/>
          </a:prstGeom>
          <a:noFill/>
        </p:spPr>
        <p:txBody>
          <a:bodyPr wrap="square" rtlCol="0">
            <a:spAutoFit/>
          </a:bodyPr>
          <a:lstStyle/>
          <a:p>
            <a:r>
              <a:rPr lang="en-US" altLang="zh-CN" sz="3600" dirty="0"/>
              <a:t>Minimize</a:t>
            </a:r>
            <a:endParaRPr lang="zh-CN" altLang="en-US" sz="3600" baseline="-25000" dirty="0"/>
          </a:p>
        </p:txBody>
      </p:sp>
      <mc:AlternateContent xmlns:mc="http://schemas.openxmlformats.org/markup-compatibility/2006" xmlns:a14="http://schemas.microsoft.com/office/drawing/2010/main">
        <mc:Choice Requires="a14">
          <p:sp>
            <p:nvSpPr>
              <p:cNvPr id="4" name="TextBox 3"/>
              <p:cNvSpPr txBox="1"/>
              <p:nvPr/>
            </p:nvSpPr>
            <p:spPr>
              <a:xfrm>
                <a:off x="2474752" y="1937857"/>
                <a:ext cx="1249960" cy="11762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en-US" sz="280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=1</m:t>
                          </m:r>
                        </m:sub>
                        <m:sup>
                          <m:r>
                            <a:rPr lang="en-US" sz="2800" b="0" i="1" smtClean="0">
                              <a:latin typeface="Cambria Math" panose="02040503050406030204" pitchFamily="18" charset="0"/>
                            </a:rPr>
                            <m:t>𝑛</m:t>
                          </m:r>
                        </m:sup>
                        <m:e>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𝑆</m:t>
                              </m:r>
                            </m:e>
                            <m:sub>
                              <m:r>
                                <a:rPr lang="en-US" sz="2800" b="0" i="1" smtClean="0">
                                  <a:latin typeface="Cambria Math" panose="02040503050406030204" pitchFamily="18" charset="0"/>
                                </a:rPr>
                                <m:t>𝑖</m:t>
                              </m:r>
                            </m:sub>
                          </m:sSub>
                        </m:e>
                      </m:nary>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2474752" y="1937857"/>
                <a:ext cx="1249960" cy="1176219"/>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83219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Sample Data Set</a:t>
            </a:r>
            <a:endParaRPr lang="zh-CN" altLang="en-US" dirty="0"/>
          </a:p>
        </p:txBody>
      </p:sp>
      <p:sp>
        <p:nvSpPr>
          <p:cNvPr id="3" name="Content Placeholder 2"/>
          <p:cNvSpPr>
            <a:spLocks noGrp="1"/>
          </p:cNvSpPr>
          <p:nvPr>
            <p:ph idx="1"/>
          </p:nvPr>
        </p:nvSpPr>
        <p:spPr>
          <a:xfrm>
            <a:off x="1097280" y="1974942"/>
            <a:ext cx="10302903" cy="4246953"/>
          </a:xfrm>
        </p:spPr>
        <p:txBody>
          <a:bodyPr>
            <a:normAutofit/>
          </a:bodyPr>
          <a:lstStyle/>
          <a:p>
            <a:r>
              <a:rPr lang="en-US" altLang="zh-CN" sz="3600" dirty="0"/>
              <a:t>We have 17 elementary schools,  3 middle schools and 3 high schools.</a:t>
            </a:r>
          </a:p>
          <a:p>
            <a:r>
              <a:rPr lang="en-US" altLang="zh-CN" sz="3600" dirty="0"/>
              <a:t>The number of runs is 343.</a:t>
            </a:r>
          </a:p>
          <a:p>
            <a:r>
              <a:rPr lang="en-US" altLang="zh-CN" sz="3600" dirty="0"/>
              <a:t>We generate samples of 20, 30, and 40 runs from the 343 total runs.</a:t>
            </a:r>
          </a:p>
          <a:p>
            <a:r>
              <a:rPr lang="en-US" altLang="zh-CN" sz="3600" dirty="0"/>
              <a:t>Each sample includes a proportional allocation of elementary schools, middle schools and high schools. </a:t>
            </a:r>
            <a:endParaRPr lang="zh-CN" altLang="en-US" sz="3600" dirty="0"/>
          </a:p>
        </p:txBody>
      </p:sp>
    </p:spTree>
    <p:extLst>
      <p:ext uri="{BB962C8B-B14F-4D97-AF65-F5344CB8AC3E}">
        <p14:creationId xmlns:p14="http://schemas.microsoft.com/office/powerpoint/2010/main" val="1328035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238539"/>
            <a:ext cx="10058400" cy="1271853"/>
          </a:xfrm>
        </p:spPr>
        <p:txBody>
          <a:bodyPr/>
          <a:lstStyle/>
          <a:p>
            <a:r>
              <a:rPr lang="en-US" altLang="zh-CN" dirty="0"/>
              <a:t>Sample Data Set</a:t>
            </a:r>
            <a:endParaRPr lang="zh-CN" altLang="en-US" dirty="0"/>
          </a:p>
        </p:txBody>
      </p:sp>
      <p:sp>
        <p:nvSpPr>
          <p:cNvPr id="3" name="Content Placeholder 2"/>
          <p:cNvSpPr>
            <a:spLocks noGrp="1"/>
          </p:cNvSpPr>
          <p:nvPr>
            <p:ph idx="1"/>
          </p:nvPr>
        </p:nvSpPr>
        <p:spPr>
          <a:xfrm>
            <a:off x="1166854" y="1928190"/>
            <a:ext cx="10058400" cy="4179442"/>
          </a:xfrm>
        </p:spPr>
        <p:txBody>
          <a:bodyPr>
            <a:normAutofit/>
          </a:bodyPr>
          <a:lstStyle/>
          <a:p>
            <a:pPr marL="0" indent="0">
              <a:buNone/>
            </a:pPr>
            <a:r>
              <a:rPr lang="en-US" altLang="zh-CN" sz="3200" u="sng" dirty="0"/>
              <a:t>20 Runs</a:t>
            </a:r>
            <a:r>
              <a:rPr lang="en-US" altLang="zh-CN" sz="3200" dirty="0"/>
              <a:t>: 12 runs come from elementary schools, 4 runs come from high school, and 4 runs come from middle school</a:t>
            </a:r>
          </a:p>
          <a:p>
            <a:pPr marL="0" indent="0">
              <a:buNone/>
            </a:pPr>
            <a:r>
              <a:rPr lang="en-US" altLang="zh-CN" sz="3200" u="sng" dirty="0"/>
              <a:t>30 Runs</a:t>
            </a:r>
            <a:r>
              <a:rPr lang="en-US" altLang="zh-CN" sz="3200" dirty="0"/>
              <a:t>: 18 runs come from elementary school, 6 runs come from high school, and 6 runs come from middle school</a:t>
            </a:r>
          </a:p>
          <a:p>
            <a:pPr marL="0" indent="0">
              <a:buNone/>
            </a:pPr>
            <a:r>
              <a:rPr lang="en-US" altLang="zh-CN" sz="3200" u="sng" dirty="0"/>
              <a:t>40 Runs</a:t>
            </a:r>
            <a:r>
              <a:rPr lang="en-US" altLang="zh-CN" sz="3200" dirty="0"/>
              <a:t>: 24 runs come from elementary school, 8 runs come from high school, and 8 runs come from middle school</a:t>
            </a:r>
          </a:p>
          <a:p>
            <a:endParaRPr lang="zh-CN" altLang="en-US" dirty="0"/>
          </a:p>
        </p:txBody>
      </p:sp>
    </p:spTree>
    <p:extLst>
      <p:ext uri="{BB962C8B-B14F-4D97-AF65-F5344CB8AC3E}">
        <p14:creationId xmlns:p14="http://schemas.microsoft.com/office/powerpoint/2010/main" val="732556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542306" y="-188538"/>
            <a:ext cx="10058400" cy="1450757"/>
          </a:xfrm>
        </p:spPr>
        <p:txBody>
          <a:bodyPr/>
          <a:lstStyle/>
          <a:p>
            <a:pPr algn="ctr"/>
            <a:r>
              <a:rPr lang="en-US" altLang="zh-CN" dirty="0"/>
              <a:t>20 Runs Results</a:t>
            </a:r>
            <a:endParaRPr lang="zh-CN" altLang="en-US" dirty="0"/>
          </a:p>
        </p:txBody>
      </p:sp>
      <p:sp>
        <p:nvSpPr>
          <p:cNvPr id="7" name="TextBox 6"/>
          <p:cNvSpPr txBox="1"/>
          <p:nvPr/>
        </p:nvSpPr>
        <p:spPr>
          <a:xfrm>
            <a:off x="6630282" y="2218415"/>
            <a:ext cx="5561718" cy="1569660"/>
          </a:xfrm>
          <a:prstGeom prst="rect">
            <a:avLst/>
          </a:prstGeom>
          <a:noFill/>
        </p:spPr>
        <p:txBody>
          <a:bodyPr wrap="square" rtlCol="0">
            <a:spAutoFit/>
          </a:bodyPr>
          <a:lstStyle/>
          <a:p>
            <a:r>
              <a:rPr lang="en-US" altLang="zh-CN" sz="3200" dirty="0"/>
              <a:t>In 20-run samples, the greedy algorithm found the optimal solution in 80% of the samples.</a:t>
            </a:r>
            <a:endParaRPr lang="zh-CN" altLang="en-US" sz="3200" dirty="0"/>
          </a:p>
        </p:txBody>
      </p:sp>
      <p:pic>
        <p:nvPicPr>
          <p:cNvPr id="4" name="Picture 3"/>
          <p:cNvPicPr>
            <a:picLocks noChangeAspect="1"/>
          </p:cNvPicPr>
          <p:nvPr/>
        </p:nvPicPr>
        <p:blipFill>
          <a:blip r:embed="rId2"/>
          <a:stretch>
            <a:fillRect/>
          </a:stretch>
        </p:blipFill>
        <p:spPr>
          <a:xfrm>
            <a:off x="570293" y="192641"/>
            <a:ext cx="5672363" cy="5989498"/>
          </a:xfrm>
          <a:prstGeom prst="rect">
            <a:avLst/>
          </a:prstGeom>
        </p:spPr>
      </p:pic>
    </p:spTree>
    <p:extLst>
      <p:ext uri="{BB962C8B-B14F-4D97-AF65-F5344CB8AC3E}">
        <p14:creationId xmlns:p14="http://schemas.microsoft.com/office/powerpoint/2010/main" val="418600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3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solidFill>
            <a:schemeClr val="bg1"/>
          </a:solidFill>
          <a:ln>
            <a:noFill/>
          </a:ln>
          <a:effectLst/>
        </p:spPr>
      </p:sp>
      <p:sp>
        <p:nvSpPr>
          <p:cNvPr id="45" name="Rectangle 39"/>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6" name="Rectangle 4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 name="Rectangle 4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a:solidFill>
              <a:srgbClr val="FC470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2"/>
          <a:srcRect/>
          <a:stretch/>
        </p:blipFill>
        <p:spPr>
          <a:xfrm>
            <a:off x="1385286" y="801793"/>
            <a:ext cx="9415839" cy="5249332"/>
          </a:xfrm>
          <a:prstGeom prst="rect">
            <a:avLst/>
          </a:prstGeom>
        </p:spPr>
      </p:pic>
    </p:spTree>
    <p:extLst>
      <p:ext uri="{BB962C8B-B14F-4D97-AF65-F5344CB8AC3E}">
        <p14:creationId xmlns:p14="http://schemas.microsoft.com/office/powerpoint/2010/main" val="3514849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592001" y="0"/>
            <a:ext cx="10058400" cy="1450757"/>
          </a:xfrm>
        </p:spPr>
        <p:txBody>
          <a:bodyPr/>
          <a:lstStyle/>
          <a:p>
            <a:pPr algn="ctr"/>
            <a:r>
              <a:rPr lang="en-US" altLang="zh-CN" dirty="0"/>
              <a:t>30 Runs Results</a:t>
            </a:r>
            <a:endParaRPr lang="zh-CN" altLang="en-US" dirty="0"/>
          </a:p>
        </p:txBody>
      </p:sp>
      <p:sp>
        <p:nvSpPr>
          <p:cNvPr id="7" name="TextBox 6"/>
          <p:cNvSpPr txBox="1"/>
          <p:nvPr/>
        </p:nvSpPr>
        <p:spPr>
          <a:xfrm>
            <a:off x="6702950" y="2167634"/>
            <a:ext cx="5561718" cy="1569660"/>
          </a:xfrm>
          <a:prstGeom prst="rect">
            <a:avLst/>
          </a:prstGeom>
          <a:noFill/>
        </p:spPr>
        <p:txBody>
          <a:bodyPr wrap="square" rtlCol="0">
            <a:spAutoFit/>
          </a:bodyPr>
          <a:lstStyle/>
          <a:p>
            <a:r>
              <a:rPr lang="en-US" altLang="zh-CN" sz="3200" dirty="0"/>
              <a:t>In 30-run samples, the greedy algorithm found the optimal solution in 60% of the samples.</a:t>
            </a:r>
          </a:p>
        </p:txBody>
      </p:sp>
      <p:pic>
        <p:nvPicPr>
          <p:cNvPr id="4" name="Picture 3"/>
          <p:cNvPicPr>
            <a:picLocks noChangeAspect="1"/>
          </p:cNvPicPr>
          <p:nvPr/>
        </p:nvPicPr>
        <p:blipFill>
          <a:blip r:embed="rId2"/>
          <a:stretch>
            <a:fillRect/>
          </a:stretch>
        </p:blipFill>
        <p:spPr>
          <a:xfrm>
            <a:off x="575164" y="327991"/>
            <a:ext cx="5785879" cy="5705062"/>
          </a:xfrm>
          <a:prstGeom prst="rect">
            <a:avLst/>
          </a:prstGeom>
        </p:spPr>
      </p:pic>
    </p:spTree>
    <p:extLst>
      <p:ext uri="{BB962C8B-B14F-4D97-AF65-F5344CB8AC3E}">
        <p14:creationId xmlns:p14="http://schemas.microsoft.com/office/powerpoint/2010/main" val="2708632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solidFill>
            <a:schemeClr val="bg1"/>
          </a:solidFill>
          <a:ln>
            <a:noFill/>
          </a:ln>
          <a:effectLst/>
        </p:spPr>
      </p:sp>
      <p:sp>
        <p:nvSpPr>
          <p:cNvPr id="13" name="Rectangle 1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a:solidFill>
              <a:srgbClr val="F852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stretch>
            <a:fillRect/>
          </a:stretch>
        </p:blipFill>
        <p:spPr>
          <a:xfrm>
            <a:off x="1342681" y="801793"/>
            <a:ext cx="9501050" cy="5249332"/>
          </a:xfrm>
          <a:prstGeom prst="rect">
            <a:avLst/>
          </a:prstGeom>
        </p:spPr>
      </p:pic>
    </p:spTree>
    <p:extLst>
      <p:ext uri="{BB962C8B-B14F-4D97-AF65-F5344CB8AC3E}">
        <p14:creationId xmlns:p14="http://schemas.microsoft.com/office/powerpoint/2010/main" val="1567683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402495" y="187211"/>
            <a:ext cx="10058400" cy="1450757"/>
          </a:xfrm>
        </p:spPr>
        <p:txBody>
          <a:bodyPr/>
          <a:lstStyle/>
          <a:p>
            <a:pPr algn="ctr"/>
            <a:r>
              <a:rPr lang="en-US" altLang="zh-CN" dirty="0"/>
              <a:t>40 Runs Results</a:t>
            </a:r>
            <a:endParaRPr lang="zh-CN" altLang="en-US" dirty="0"/>
          </a:p>
        </p:txBody>
      </p:sp>
      <p:sp>
        <p:nvSpPr>
          <p:cNvPr id="5" name="Rectangle 4"/>
          <p:cNvSpPr/>
          <p:nvPr/>
        </p:nvSpPr>
        <p:spPr>
          <a:xfrm>
            <a:off x="6437244" y="2086954"/>
            <a:ext cx="6096000" cy="1569660"/>
          </a:xfrm>
          <a:prstGeom prst="rect">
            <a:avLst/>
          </a:prstGeom>
        </p:spPr>
        <p:txBody>
          <a:bodyPr>
            <a:spAutoFit/>
          </a:bodyPr>
          <a:lstStyle/>
          <a:p>
            <a:r>
              <a:rPr lang="en-US" altLang="zh-CN" sz="3200" dirty="0"/>
              <a:t>In 40-run samples, the greedy algorithm found the optimal solution in 60% of the samples.</a:t>
            </a:r>
          </a:p>
        </p:txBody>
      </p:sp>
      <p:pic>
        <p:nvPicPr>
          <p:cNvPr id="4" name="Picture 3"/>
          <p:cNvPicPr>
            <a:picLocks noChangeAspect="1"/>
          </p:cNvPicPr>
          <p:nvPr/>
        </p:nvPicPr>
        <p:blipFill>
          <a:blip r:embed="rId2"/>
          <a:stretch>
            <a:fillRect/>
          </a:stretch>
        </p:blipFill>
        <p:spPr>
          <a:xfrm>
            <a:off x="399687" y="266724"/>
            <a:ext cx="5826713" cy="5939803"/>
          </a:xfrm>
          <a:prstGeom prst="rect">
            <a:avLst/>
          </a:prstGeom>
        </p:spPr>
      </p:pic>
    </p:spTree>
    <p:extLst>
      <p:ext uri="{BB962C8B-B14F-4D97-AF65-F5344CB8AC3E}">
        <p14:creationId xmlns:p14="http://schemas.microsoft.com/office/powerpoint/2010/main" val="258524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solidFill>
            <a:schemeClr val="bg1"/>
          </a:solidFill>
          <a:ln>
            <a:noFill/>
          </a:ln>
          <a:effectLst/>
        </p:spPr>
      </p:sp>
      <p:sp>
        <p:nvSpPr>
          <p:cNvPr id="7" name="Rectangle 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a:solidFill>
              <a:srgbClr val="FD471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8400" y="828173"/>
            <a:ext cx="10180320" cy="5343471"/>
          </a:xfrm>
          <a:prstGeom prst="rect">
            <a:avLst/>
          </a:prstGeom>
        </p:spPr>
      </p:pic>
    </p:spTree>
    <p:extLst>
      <p:ext uri="{BB962C8B-B14F-4D97-AF65-F5344CB8AC3E}">
        <p14:creationId xmlns:p14="http://schemas.microsoft.com/office/powerpoint/2010/main" val="2980631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4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solidFill>
            <a:schemeClr val="bg1"/>
          </a:solidFill>
          <a:ln>
            <a:noFill/>
          </a:ln>
          <a:effectLst/>
        </p:spPr>
      </p:sp>
      <p:sp>
        <p:nvSpPr>
          <p:cNvPr id="54" name="Rectangle 4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 name="Rectangle 4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 name="Rectangle 49"/>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222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stretch>
            <a:fillRect/>
          </a:stretch>
        </p:blipFill>
        <p:spPr>
          <a:xfrm>
            <a:off x="2382203" y="801793"/>
            <a:ext cx="7422006" cy="5249332"/>
          </a:xfrm>
          <a:prstGeom prst="rect">
            <a:avLst/>
          </a:prstGeom>
        </p:spPr>
      </p:pic>
    </p:spTree>
    <p:extLst>
      <p:ext uri="{BB962C8B-B14F-4D97-AF65-F5344CB8AC3E}">
        <p14:creationId xmlns:p14="http://schemas.microsoft.com/office/powerpoint/2010/main" val="3047286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 Assignment Heuristic (Routing Only)</a:t>
            </a:r>
            <a:endParaRPr lang="zh-CN" altLang="en-US" dirty="0"/>
          </a:p>
        </p:txBody>
      </p:sp>
      <p:pic>
        <p:nvPicPr>
          <p:cNvPr id="4" name="Content Placeholder 3"/>
          <p:cNvPicPr>
            <a:picLocks noGrp="1" noChangeAspect="1"/>
          </p:cNvPicPr>
          <p:nvPr>
            <p:ph idx="1"/>
          </p:nvPr>
        </p:nvPicPr>
        <p:blipFill>
          <a:blip r:embed="rId2"/>
          <a:stretch>
            <a:fillRect/>
          </a:stretch>
        </p:blipFill>
        <p:spPr>
          <a:xfrm>
            <a:off x="302712" y="1853087"/>
            <a:ext cx="3359269" cy="855492"/>
          </a:xfrm>
          <a:prstGeom prst="rect">
            <a:avLst/>
          </a:prstGeom>
        </p:spPr>
      </p:pic>
      <p:pic>
        <p:nvPicPr>
          <p:cNvPr id="5" name="Picture 4"/>
          <p:cNvPicPr>
            <a:picLocks noChangeAspect="1"/>
          </p:cNvPicPr>
          <p:nvPr/>
        </p:nvPicPr>
        <p:blipFill>
          <a:blip r:embed="rId3"/>
          <a:stretch>
            <a:fillRect/>
          </a:stretch>
        </p:blipFill>
        <p:spPr>
          <a:xfrm>
            <a:off x="4007509" y="2033615"/>
            <a:ext cx="7261123" cy="4198220"/>
          </a:xfrm>
          <a:prstGeom prst="rect">
            <a:avLst/>
          </a:prstGeom>
        </p:spPr>
      </p:pic>
      <p:pic>
        <p:nvPicPr>
          <p:cNvPr id="6" name="Picture 5"/>
          <p:cNvPicPr>
            <a:picLocks noChangeAspect="1"/>
          </p:cNvPicPr>
          <p:nvPr/>
        </p:nvPicPr>
        <p:blipFill>
          <a:blip r:embed="rId4"/>
          <a:stretch>
            <a:fillRect/>
          </a:stretch>
        </p:blipFill>
        <p:spPr>
          <a:xfrm>
            <a:off x="529204" y="5492933"/>
            <a:ext cx="3305541" cy="579876"/>
          </a:xfrm>
          <a:prstGeom prst="rect">
            <a:avLst/>
          </a:prstGeom>
        </p:spPr>
      </p:pic>
    </p:spTree>
    <p:extLst>
      <p:ext uri="{BB962C8B-B14F-4D97-AF65-F5344CB8AC3E}">
        <p14:creationId xmlns:p14="http://schemas.microsoft.com/office/powerpoint/2010/main" val="496677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47455"/>
            <a:ext cx="10058400" cy="1450757"/>
          </a:xfrm>
        </p:spPr>
        <p:txBody>
          <a:bodyPr>
            <a:normAutofit/>
          </a:bodyPr>
          <a:lstStyle/>
          <a:p>
            <a:pPr algn="ctr"/>
            <a:r>
              <a:rPr lang="en-US" altLang="zh-CN" sz="5000" dirty="0"/>
              <a:t>Conclusion</a:t>
            </a:r>
            <a:endParaRPr lang="zh-CN" altLang="en-US" sz="5000" dirty="0"/>
          </a:p>
        </p:txBody>
      </p:sp>
      <p:sp>
        <p:nvSpPr>
          <p:cNvPr id="3" name="Content Placeholder 2"/>
          <p:cNvSpPr>
            <a:spLocks noGrp="1"/>
          </p:cNvSpPr>
          <p:nvPr>
            <p:ph idx="1"/>
          </p:nvPr>
        </p:nvSpPr>
        <p:spPr>
          <a:xfrm>
            <a:off x="1163116" y="1950961"/>
            <a:ext cx="10058400" cy="4326466"/>
          </a:xfrm>
        </p:spPr>
        <p:txBody>
          <a:bodyPr>
            <a:normAutofit/>
          </a:bodyPr>
          <a:lstStyle/>
          <a:p>
            <a:r>
              <a:rPr lang="en-US" altLang="zh-CN" sz="4000" dirty="0"/>
              <a:t>The greedy algorithm produced optimal results in more than half of the trial runs.</a:t>
            </a:r>
          </a:p>
          <a:p>
            <a:r>
              <a:rPr lang="en-US" altLang="zh-CN" sz="4000" dirty="0"/>
              <a:t>We still need to test the performance of the greedy algorithm for larger problems.</a:t>
            </a:r>
          </a:p>
          <a:p>
            <a:r>
              <a:rPr lang="en-US" altLang="zh-CN" sz="4000" dirty="0"/>
              <a:t>We also need to test the performance of the assignment algorithm.</a:t>
            </a:r>
            <a:endParaRPr lang="zh-CN" altLang="en-US" sz="4000" dirty="0"/>
          </a:p>
        </p:txBody>
      </p:sp>
    </p:spTree>
    <p:extLst>
      <p:ext uri="{BB962C8B-B14F-4D97-AF65-F5344CB8AC3E}">
        <p14:creationId xmlns:p14="http://schemas.microsoft.com/office/powerpoint/2010/main" val="1050327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dirty="0"/>
              <a:t>Conclusion</a:t>
            </a:r>
            <a:endParaRPr lang="zh-CN" altLang="en-US" dirty="0"/>
          </a:p>
        </p:txBody>
      </p:sp>
      <p:sp>
        <p:nvSpPr>
          <p:cNvPr id="3" name="Content Placeholder 2"/>
          <p:cNvSpPr>
            <a:spLocks noGrp="1"/>
          </p:cNvSpPr>
          <p:nvPr>
            <p:ph idx="1"/>
          </p:nvPr>
        </p:nvSpPr>
        <p:spPr>
          <a:xfrm>
            <a:off x="1097280" y="1845733"/>
            <a:ext cx="10058400" cy="4087927"/>
          </a:xfrm>
        </p:spPr>
        <p:txBody>
          <a:bodyPr>
            <a:normAutofit/>
          </a:bodyPr>
          <a:lstStyle/>
          <a:p>
            <a:r>
              <a:rPr lang="en-US" altLang="zh-CN" sz="4000" dirty="0"/>
              <a:t>We hope that the model can help school districts minimize the number of buses required.</a:t>
            </a:r>
          </a:p>
          <a:p>
            <a:r>
              <a:rPr lang="en-US" altLang="zh-CN" sz="4000" dirty="0"/>
              <a:t>With the money saved, the school district can invest more money on the education of children. </a:t>
            </a:r>
          </a:p>
        </p:txBody>
      </p:sp>
    </p:spTree>
    <p:extLst>
      <p:ext uri="{BB962C8B-B14F-4D97-AF65-F5344CB8AC3E}">
        <p14:creationId xmlns:p14="http://schemas.microsoft.com/office/powerpoint/2010/main" val="3856993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38654" y="2531535"/>
            <a:ext cx="3464780" cy="957100"/>
          </a:xfrm>
        </p:spPr>
        <p:txBody>
          <a:bodyPr>
            <a:normAutofit/>
          </a:bodyPr>
          <a:lstStyle/>
          <a:p>
            <a:r>
              <a:rPr lang="en-US" altLang="zh-CN" sz="5400" dirty="0"/>
              <a:t>Thank you!</a:t>
            </a:r>
            <a:endParaRPr lang="zh-CN" altLang="en-US" sz="5400" dirty="0"/>
          </a:p>
        </p:txBody>
      </p:sp>
    </p:spTree>
    <p:extLst>
      <p:ext uri="{BB962C8B-B14F-4D97-AF65-F5344CB8AC3E}">
        <p14:creationId xmlns:p14="http://schemas.microsoft.com/office/powerpoint/2010/main" val="216037307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1684</TotalTime>
  <Words>1203</Words>
  <Application>Microsoft Office PowerPoint</Application>
  <PresentationFormat>Widescreen</PresentationFormat>
  <Paragraphs>154</Paragraphs>
  <Slides>26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等线</vt:lpstr>
      <vt:lpstr>宋体</vt:lpstr>
      <vt:lpstr>Calibri</vt:lpstr>
      <vt:lpstr>Calibri Light</vt:lpstr>
      <vt:lpstr>Cambria Math</vt:lpstr>
      <vt:lpstr>Retrospect</vt:lpstr>
      <vt:lpstr>Optimal and Heuristic Methods for the         School Bus Fleet Size Problem</vt:lpstr>
      <vt:lpstr>Literature  Review</vt:lpstr>
      <vt:lpstr>Abstract</vt:lpstr>
      <vt:lpstr>Definitions</vt:lpstr>
      <vt:lpstr>PowerPoint Presentation</vt:lpstr>
      <vt:lpstr>Problem Statement</vt:lpstr>
      <vt:lpstr>Variables and Parameters</vt:lpstr>
      <vt:lpstr>Methods</vt:lpstr>
      <vt:lpstr>1. Optimization Model (Routing and Scheduling)</vt:lpstr>
      <vt:lpstr>2 Greedy Heuristic (Routing Only)</vt:lpstr>
      <vt:lpstr>Greedy Algorithm</vt:lpstr>
      <vt:lpstr>Penalty List with n = 20 and α = 0.85</vt:lpstr>
      <vt:lpstr>Optimal Method for Scheduling Portion of Greedy Heuristic</vt:lpstr>
      <vt:lpstr>Sample Data Set</vt:lpstr>
      <vt:lpstr>Sample Data Set</vt:lpstr>
      <vt:lpstr>20 Runs Results</vt:lpstr>
      <vt:lpstr>PowerPoint Presentation</vt:lpstr>
      <vt:lpstr>30 Runs Results</vt:lpstr>
      <vt:lpstr>PowerPoint Presentation</vt:lpstr>
      <vt:lpstr>40 Runs Results</vt:lpstr>
      <vt:lpstr>PowerPoint Presentation</vt:lpstr>
      <vt:lpstr>PowerPoint Presentation</vt:lpstr>
      <vt:lpstr> Assignment Heuristic (Routing Only)</vt:lpstr>
      <vt:lpstr>Conclusion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Optimal and Heuristic Methods for the  School Bus Fleet Size Problem</dc:title>
  <dc:creator>JIAYUAN ZHANG</dc:creator>
  <cp:lastModifiedBy>JIAYUAN ZHANG</cp:lastModifiedBy>
  <cp:revision>179</cp:revision>
  <dcterms:created xsi:type="dcterms:W3CDTF">2016-08-04T00:17:04Z</dcterms:created>
  <dcterms:modified xsi:type="dcterms:W3CDTF">2016-11-11T12:20:03Z</dcterms:modified>
</cp:coreProperties>
</file>