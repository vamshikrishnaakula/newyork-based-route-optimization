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Model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6858000" cy="27432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Excel model works, the math behind it, and the Python replication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2560320" cy="118872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2560320" cy="118872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3246120"/>
            <a:ext cx="2560320" cy="118872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Pairings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school bus runs must be completed each morning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has a fixed start location, run time, and school bell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79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 finishing one run can serve another if timing allows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minimise the number of buses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deadhead travel time between all run pairs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LP: decide which runs to chain on one bus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2779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bell-time windows and sequencing feasibility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buses cover all 10 runs (5 single, 5 chained pairs)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Data: The 10 Bus Runs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0058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6858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960120"/>
            <a:ext cx="630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6858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960120"/>
            <a:ext cx="630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 (min)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960120"/>
            <a:ext cx="8229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96012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960120"/>
            <a:ext cx="8229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96012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960120"/>
            <a:ext cx="10058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96012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960120"/>
            <a:ext cx="10058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96012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960120"/>
            <a:ext cx="10515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960120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School 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960120"/>
            <a:ext cx="10515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960120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School 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3716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37160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1371600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137160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1371600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137160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1371600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137160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0440" y="1371600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137160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13716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137160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27.57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13716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137160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24.71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1371600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137160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1371600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137160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1700784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170078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25880" y="1700784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170078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0" y="1700784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39112" y="170078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97480" y="1700784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24912" y="170078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520440" y="1700784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47872" y="170078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3400" y="1700784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170078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27.71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49240" y="1700784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76672" y="170078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24.85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1700784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17007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06640" y="1700784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34072" y="17007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20299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202996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325880" y="2029968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53312" y="2029968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011680" y="2029968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39112" y="2029968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97480" y="2029968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24912" y="202996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520440" y="2029968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47872" y="202996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43400" y="20299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202996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28.25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49240" y="20299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76672" y="202996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24.68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55080" y="2029968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20299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06640" y="2029968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34072" y="20299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0040" y="2359152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235915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325880" y="2359152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53312" y="2359152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011680" y="2359152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39112" y="2359152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697480" y="2359152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24912" y="23591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520440" y="2359152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547872" y="23591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343400" y="2359152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5915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27.82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349240" y="2359152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76672" y="235915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24.11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355080" y="2359152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82512" y="2359152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406640" y="2359152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34072" y="2359152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20040" y="26883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26883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5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325880" y="2688336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353312" y="268833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011680" y="2688336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39112" y="268833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697480" y="2688336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24912" y="26883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520440" y="2688336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47872" y="26883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343400" y="26883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70832" y="26883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28.63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349240" y="26883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76672" y="26883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24.53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355080" y="2688336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82512" y="26883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406640" y="2688336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34072" y="26883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20040" y="3017520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47472" y="301752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6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325880" y="3017520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353312" y="301752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ES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2011680" y="3017520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39112" y="301752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17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2697480" y="3017520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24912" y="301752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190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3520440" y="3017520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547872" y="301752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15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343400" y="3017520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70832" y="301752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29.55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5349240" y="3017520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76672" y="301752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24.14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355080" y="3017520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382512" y="301752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29.3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7406640" y="3017520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34072" y="301752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23.9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320040" y="3346704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47472" y="334670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7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325880" y="3346704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53312" y="334670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MS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2011680" y="3346704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039112" y="334670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2697480" y="3346704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724912" y="334670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85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520440" y="3346704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547872" y="3346704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4343400" y="3346704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370832" y="334670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36.98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5349240" y="3346704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376672" y="334670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25.49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355080" y="3346704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382512" y="334670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37.2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7406640" y="3346704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34072" y="334670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25.6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320040" y="3675888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47472" y="367588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8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1325880" y="3675888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353312" y="3675888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MS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2011680" y="3675888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39112" y="3675888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30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2697480" y="3675888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724912" y="367588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85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3520440" y="3675888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547872" y="367588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4343400" y="3675888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370832" y="367588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38.45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5349240" y="3675888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376672" y="367588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25.81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6355080" y="3675888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382512" y="367588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37.2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7406640" y="3675888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434072" y="367588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25.6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20040" y="400507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47472" y="400507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9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1325880" y="4005072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353312" y="4005072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HS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2011680" y="4005072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039112" y="4005072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111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2697480" y="4005072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724912" y="40050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75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3520440" y="4005072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547872" y="40050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4343400" y="400507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370832" y="400507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26.68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5349240" y="400507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376672" y="400507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27.49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6355080" y="4005072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382512" y="4005072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38.6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7406640" y="4005072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434072" y="4005072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25.9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320040" y="4334256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47472" y="433425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Run 10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1325880" y="4334256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353312" y="433425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HS</a:t>
            </a:r>
            <a:endParaRPr lang="en-US" sz="1000" dirty="0"/>
          </a:p>
        </p:txBody>
      </p:sp>
      <p:sp>
        <p:nvSpPr>
          <p:cNvPr id="188" name="Shape 186"/>
          <p:cNvSpPr/>
          <p:nvPr/>
        </p:nvSpPr>
        <p:spPr>
          <a:xfrm>
            <a:off x="2011680" y="4334256"/>
            <a:ext cx="685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039112" y="433425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94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2697480" y="4334256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724912" y="433425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75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3520440" y="4334256"/>
            <a:ext cx="822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547872" y="433425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4343400" y="4334256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370832" y="433425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25.28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5349240" y="4334256"/>
            <a:ext cx="1005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376672" y="433425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24.60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6355080" y="4334256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382512" y="433425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38.6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7406640" y="4334256"/>
            <a:ext cx="10515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434072" y="433425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25.9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365760" y="466344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94360" y="4645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ES — Elementary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3108960" y="4663440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337560" y="4645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MS — Middle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5852160" y="466344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080760" y="4645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HS — High School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Deadhead Travel Time Calculation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280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Formula  (Excel Data Sheet)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T[i,j]  =  √( (Sx_i − SchoolX_j)²  +  (Sy_i − SchoolY_j)² )  ×  60  ÷  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</a:rPr>
              <a:t>Euclidean distance between bus start-point and school location, converted to minutes at 25 units/hour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10972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Sx_i, Sy_i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GPS-style coordinates of the bus start location for run 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1188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85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SchoolX_j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SchoolY_j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school coordinates for run j's category (ES / MS / HS)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37744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50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60 / 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25 coord-units/hour. Multiply by 60 to convert hours → minutes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611880"/>
            <a:ext cx="10972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85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T[i,j]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travel time in minutes from end of run i to start of run j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Optimisation Model (Binary LP)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  Σ Xij     (= minimise buses needed = N − Σ Xij)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402336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110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C1: Assignment (predecessor)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Σ_j Xij ≤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can be the predecessor of at most one other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9184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3284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C2: Assignment (successor)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Σ_i Xij ≤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41148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can be the successor of at most one other run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874520"/>
            <a:ext cx="4023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9110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C3: Bell-time window feasibility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− Wi − Ri  ≤  Si  ≤  Bi − 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27448" y="2697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 must start within its allowed window before bell time Bi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2918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29184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3284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C4: Sequencing (big-M)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+ Ri + T[i,j] ≤ Sj + M(1−Xij)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41148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Xij=1, bus finishes run i + deadheads and still starts run j on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Optimal Bus Schedule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Total Runs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Buses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659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Run Pairings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196596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508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Bus Reduction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 Pairings Found by Solver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2487168"/>
            <a:ext cx="411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24871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83080" y="248716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2487168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4871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0.84 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2487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ES chain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71216"/>
            <a:ext cx="10058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2871216"/>
            <a:ext cx="411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287121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2871216"/>
            <a:ext cx="10058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88920" y="2871216"/>
            <a:ext cx="12344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28712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18.82 min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3360" y="2871216"/>
            <a:ext cx="13716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28712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MS → 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25526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71600" y="3255264"/>
            <a:ext cx="411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17320" y="325526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83080" y="325526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88920" y="3255264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2552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22.42 min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023360" y="325526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69080" y="3255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MS → 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639312"/>
            <a:ext cx="10058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371600" y="3639312"/>
            <a:ext cx="411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17320" y="36393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783080" y="3639312"/>
            <a:ext cx="10058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5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88920" y="3639312"/>
            <a:ext cx="12344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0" y="36393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10.66 min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023360" y="3639312"/>
            <a:ext cx="13716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36393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HS → 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0233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023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10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371600" y="4023360"/>
            <a:ext cx="411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17320" y="40233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783080" y="40233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4023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6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88920" y="4023360"/>
            <a:ext cx="1234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0" y="40233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9.79 min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23360" y="40233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9080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HS → 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669280" y="2103120"/>
            <a:ext cx="310896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2103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Independent Runs (1 bus each)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669280" y="2487168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2487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669280" y="2871216"/>
            <a:ext cx="3108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28712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3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669280" y="3255264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0" y="32552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5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669280" y="3639312"/>
            <a:ext cx="3108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60720" y="3639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6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669280" y="4023360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0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Run 7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778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Same model, same outputs — no Excel Solver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164592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417320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RUNS_RAW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input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Excel Data sheet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417320"/>
            <a:ext cx="1965960" cy="1645920"/>
          </a:xfrm>
          <a:prstGeom prst="rect">
            <a:avLst/>
          </a:prstGeom>
          <a:solidFill>
            <a:srgbClr val="24366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41732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33472" y="2029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build_data()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2377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R, B, W, Si bounds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T[i,j] deadhead matrix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8304" y="1417320"/>
            <a:ext cx="1965960" cy="1645920"/>
          </a:xfrm>
          <a:prstGeom prst="rect">
            <a:avLst/>
          </a:prstGeom>
          <a:solidFill>
            <a:srgbClr val="2436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04104" y="141732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2029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9744" y="2377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scipy.optimize.milp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solves it optimally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94576" y="1417320"/>
            <a:ext cx="1965960" cy="1645920"/>
          </a:xfrm>
          <a:prstGeom prst="rect">
            <a:avLst/>
          </a:prstGeom>
          <a:solidFill>
            <a:srgbClr val="24366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0376" y="1417320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6016" y="2029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print_results()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86016" y="2377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schedule, pairings,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matrix — identical output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2240280"/>
            <a:ext cx="10972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2240280"/>
            <a:ext cx="10972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9984" y="2240280"/>
            <a:ext cx="10972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3101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Key Design Decisions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65760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3016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scipy.optimize.milp — no external solver install needed (uses HiGHS under the hood)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91363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8862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n² binary Xij + n continuous Si (start times) — same structure as Excel Solver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6966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4223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Big-M = 1,000,000 for sequencing constraints (matches Excel exactly)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2569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39826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 data → identical pairings, buses needed, deadhead values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vs Python: Side-by-Side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Excel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98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1389888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389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Excel Solver (Simplex LP / GRG)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898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scipy.optimize.milp (HiGHS)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10512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105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 vars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1810512"/>
            <a:ext cx="283464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18105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Binary Xij matrix (10×10 cells)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810512"/>
            <a:ext cx="41148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8105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numpy arrays, n² + n variables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31136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231136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22311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Formulas + Solver constraints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3113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2311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LinearConstraint (sparse CSC matrix)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51760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Deadhead T[i,j]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2651760"/>
            <a:ext cx="283464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651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SQRT formula in Data sheet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51760"/>
            <a:ext cx="41148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517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deadhead_minutes() function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072384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723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37360" y="3072384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072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Xij values, Si times (cells)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7238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072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Printed schedule + pairing table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493008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4930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Buses needed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737360" y="3493008"/>
            <a:ext cx="283464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83080" y="34930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 buses (N − Σ Xij)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493008"/>
            <a:ext cx="41148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930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 buses — identical result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913632"/>
            <a:ext cx="1371600" cy="402336"/>
          </a:xfrm>
          <a:prstGeom prst="rect">
            <a:avLst/>
          </a:prstGeom>
          <a:solidFill>
            <a:srgbClr val="24366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136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Pairings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37360" y="391363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39136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 pairings shown in Xij matrix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9136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9136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 pairings — same pairs found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Same input → Same output: 5 buses, 5 pairings, identical deadhead values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150876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model is a Mixed-Integer Program: binary assignment variables + continuous start times.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77640" cy="150876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2971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T[i,j] uses Euclidean distance from the bus start-point to the school location at 25 units/hr.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143000"/>
            <a:ext cx="3977640" cy="150876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1280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Runs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out of 10 runs can be paired, reducing buses needed from 10 to 5 — a 50% fleet reduction.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3977640" cy="1508760"/>
          </a:xfrm>
          <a:prstGeom prst="rect">
            <a:avLst/>
          </a:prstGeom>
          <a:solidFill>
            <a:srgbClr val="24366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77840" y="2971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scipy.optimize.milp (HiGHS solver) produces identical results to Excel Solver with no add-ins.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Bus Optimization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Bus Optimization Model</dc:title>
  <dc:subject>PptxGenJS Presentation</dc:subject>
  <dc:creator>PptxGenJS</dc:creator>
  <cp:lastModifiedBy>PptxGenJS</cp:lastModifiedBy>
  <cp:revision>1</cp:revision>
  <dcterms:created xsi:type="dcterms:W3CDTF">2026-04-17T16:15:44Z</dcterms:created>
  <dcterms:modified xsi:type="dcterms:W3CDTF">2026-04-17T16:15:44Z</dcterms:modified>
</cp:coreProperties>
</file>